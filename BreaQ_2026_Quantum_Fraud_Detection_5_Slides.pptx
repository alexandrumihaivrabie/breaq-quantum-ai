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AUPRC</c:v>
                </c:pt>
              </c:strCache>
            </c:strRef>
          </c:tx>
          <c:spPr>
            <a:solidFill>
              <a:srgbClr val="F1B75E"/>
            </a:solidFill>
            <a:effectLst/>
          </c:spPr>
          <c:invertIfNegative val="0"/>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dPt>
            <c:idx val="0"/>
            <c:invertIfNegative val="0"/>
            <c:bubble3D val="0"/>
            <c:spPr>
              <a:solidFill>
                <a:srgbClr val="F1B75E"/>
              </a:solidFill>
              <a:effectLst/>
            </c:spPr>
          </c:dPt>
          <c:dPt>
            <c:idx val="1"/>
            <c:invertIfNegative val="0"/>
            <c:bubble3D val="0"/>
            <c:spPr>
              <a:solidFill>
                <a:srgbClr val="788AE4"/>
              </a:solidFill>
              <a:effectLst/>
            </c:spPr>
          </c:dPt>
          <c:dPt>
            <c:idx val="2"/>
            <c:invertIfNegative val="0"/>
            <c:bubble3D val="0"/>
            <c:spPr>
              <a:solidFill>
                <a:srgbClr val="9BA4BF"/>
              </a:solidFill>
              <a:effectLst/>
            </c:spPr>
          </c:dPt>
          <c:cat>
            <c:multiLvlStrRef>
              <c:f>Sheet1!$A$2:$A$4</c:f>
              <c:multiLvlStrCache>
                <c:ptCount val="3"/>
                <c:lvl>
                  <c:pt idx="0">
                    <c:v>1:1</c:v>
                  </c:pt>
                  <c:pt idx="1">
                    <c:v>1:3</c:v>
                  </c:pt>
                  <c:pt idx="2">
                    <c:v>1:5</c:v>
                  </c:pt>
                </c:lvl>
              </c:multiLvlStrCache>
            </c:multiLvlStrRef>
          </c:cat>
          <c:val>
            <c:numRef>
              <c:f>Sheet1!$B$2:$B$4</c:f>
              <c:numCache>
                <c:formatCode>General</c:formatCode>
                <c:ptCount val="3"/>
                <c:pt idx="0">
                  <c:v>0.568</c:v>
                </c:pt>
                <c:pt idx="1">
                  <c:v>0.534</c:v>
                </c:pt>
                <c:pt idx="2">
                  <c:v>0.498</c:v>
                </c:pt>
              </c:numCache>
            </c:numRef>
          </c:val>
        </c:ser>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0475D"/>
            </a:solidFill>
            <a:prstDash val="solid"/>
            <a:round/>
          </a:ln>
        </c:spPr>
        <c:txPr>
          <a:bodyPr/>
          <a:lstStyle/>
          <a:p>
            <a:pPr>
              <a:defRPr sz="1500" b="0" i="0" u="none" strike="noStrike">
                <a:solidFill>
                  <a:srgbClr val="DCE0EE"/>
                </a:solidFill>
                <a:latin typeface="Aptos"/>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12700" cap="flat">
              <a:solidFill>
                <a:srgbClr val="40475D"/>
              </a:solidFill>
              <a:prstDash val="solid"/>
              <a:round/>
            </a:ln>
          </c:spPr>
        </c:majorGridlines>
        <c:numFmt formatCode="General" sourceLinked="0"/>
        <c:majorTickMark val="out"/>
        <c:minorTickMark val="none"/>
        <c:tickLblPos val="nextTo"/>
        <c:spPr>
          <a:ln w="12700" cap="flat">
            <a:solidFill>
              <a:srgbClr val="40475D"/>
            </a:solidFill>
            <a:prstDash val="solid"/>
            <a:round/>
          </a:ln>
        </c:spPr>
        <c:txPr>
          <a:bodyPr/>
          <a:lstStyle/>
          <a:p>
            <a:pPr>
              <a:defRPr sz="1100" b="0" i="0" u="none" strike="noStrike">
                <a:solidFill>
                  <a:srgbClr val="B0B8CE"/>
                </a:solidFill>
                <a:latin typeface="Aptos"/>
              </a:defRPr>
            </a:pPr>
            <a:endParaRPr lang="en-US"/>
          </a:p>
        </c:txPr>
        <c:crossAx val="2094734554"/>
        <c:crosses val="autoZero"/>
        <c:crossBetween val="between"/>
        <c:majorUnit val="0.2"/>
      </c:valAx>
      <c:spPr>
        <a:solidFill>
          <a:srgbClr val="232635">
            <a:alpha val="0"/>
          </a:srgbClr>
        </a:solidFill>
        <a:ln>
          <a:noFill/>
        </a:ln>
        <a:effectLst/>
      </c:spPr>
    </c:plotArea>
    <c:plotVisOnly val="1"/>
    <c:dispBlanksAs val="span"/>
  </c:chart>
  <c:spPr>
    <a:solidFill>
      <a:srgbClr val="232635">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AUPRC</c:v>
                </c:pt>
              </c:strCache>
            </c:strRef>
          </c:tx>
          <c:spPr>
            <a:solidFill>
              <a:srgbClr val="9BA4BF"/>
            </a:solidFill>
            <a:effectLst/>
          </c:spPr>
          <c:invertIfNegative val="0"/>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dPt>
            <c:idx val="0"/>
            <c:invertIfNegative val="0"/>
            <c:bubble3D val="0"/>
            <c:spPr>
              <a:solidFill>
                <a:srgbClr val="9BA4BF"/>
              </a:solidFill>
              <a:effectLst/>
            </c:spPr>
          </c:dPt>
          <c:dPt>
            <c:idx val="1"/>
            <c:invertIfNegative val="0"/>
            <c:bubble3D val="0"/>
            <c:spPr>
              <a:solidFill>
                <a:srgbClr val="F1B75E"/>
              </a:solidFill>
              <a:effectLst/>
            </c:spPr>
          </c:dPt>
          <c:dPt>
            <c:idx val="2"/>
            <c:invertIfNegative val="0"/>
            <c:bubble3D val="0"/>
            <c:spPr>
              <a:solidFill>
                <a:srgbClr val="6DADF3"/>
              </a:solidFill>
              <a:effectLst/>
            </c:spPr>
          </c:dPt>
          <c:cat>
            <c:multiLvlStrRef>
              <c:f>Sheet1!$A$2:$A$4</c:f>
              <c:multiLvlStrCache>
                <c:ptCount val="3"/>
                <c:lvl>
                  <c:pt idx="0">
                    <c:v>Baseline A</c:v>
                  </c:pt>
                  <c:pt idx="1">
                    <c:v>Reduced B</c:v>
                  </c:pt>
                  <c:pt idx="2">
                    <c:v>Logistic Reg.</c:v>
                  </c:pt>
                </c:lvl>
              </c:multiLvlStrCache>
            </c:multiLvlStrRef>
          </c:cat>
          <c:val>
            <c:numRef>
              <c:f>Sheet1!$B$2:$B$4</c:f>
              <c:numCache>
                <c:formatCode>General</c:formatCode>
                <c:ptCount val="3"/>
                <c:pt idx="0">
                  <c:v>0.405</c:v>
                </c:pt>
                <c:pt idx="1">
                  <c:v>0.617</c:v>
                </c:pt>
                <c:pt idx="2">
                  <c:v>0.703</c:v>
                </c:pt>
              </c:numCache>
            </c:numRef>
          </c:val>
        </c:ser>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0475D"/>
            </a:solidFill>
            <a:prstDash val="solid"/>
            <a:round/>
          </a:ln>
        </c:spPr>
        <c:txPr>
          <a:bodyPr/>
          <a:lstStyle/>
          <a:p>
            <a:pPr>
              <a:defRPr sz="1500" b="0" i="0" u="none" strike="noStrike">
                <a:solidFill>
                  <a:srgbClr val="DCE0EE"/>
                </a:solidFill>
                <a:latin typeface="Aptos"/>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40475D"/>
              </a:solidFill>
              <a:prstDash val="solid"/>
              <a:round/>
            </a:ln>
          </c:spPr>
        </c:majorGridlines>
        <c:numFmt formatCode="General" sourceLinked="0"/>
        <c:majorTickMark val="out"/>
        <c:minorTickMark val="none"/>
        <c:tickLblPos val="nextTo"/>
        <c:spPr>
          <a:ln w="12700" cap="flat">
            <a:solidFill>
              <a:srgbClr val="40475D"/>
            </a:solidFill>
            <a:prstDash val="solid"/>
            <a:round/>
          </a:ln>
        </c:spPr>
        <c:txPr>
          <a:bodyPr/>
          <a:lstStyle/>
          <a:p>
            <a:pPr>
              <a:defRPr sz="1100" b="0" i="0" u="none" strike="noStrike">
                <a:solidFill>
                  <a:srgbClr val="B0B8CE"/>
                </a:solidFill>
                <a:latin typeface="Aptos"/>
              </a:defRPr>
            </a:pPr>
            <a:endParaRPr lang="en-US"/>
          </a:p>
        </c:txPr>
        <c:crossAx val="2094734554"/>
        <c:crosses val="autoZero"/>
        <c:crossBetween val="between"/>
        <c:majorUnit val="0.2"/>
      </c:valAx>
      <c:spPr>
        <a:solidFill>
          <a:srgbClr val="232635">
            <a:alpha val="0"/>
          </a:srgbClr>
        </a:solidFill>
        <a:ln>
          <a:noFill/>
        </a:ln>
        <a:effectLst/>
      </c:spPr>
    </c:plotArea>
    <c:plotVisOnly val="1"/>
    <c:dispBlanksAs val="span"/>
  </c:chart>
  <c:spPr>
    <a:solidFill>
      <a:srgbClr val="232635">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AUPRC</c:v>
                </c:pt>
              </c:strCache>
            </c:strRef>
          </c:tx>
          <c:spPr>
            <a:solidFill>
              <a:srgbClr val="9BA4BF"/>
            </a:solidFill>
            <a:effectLst/>
          </c:spPr>
          <c:invertIfNegative val="0"/>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dPt>
            <c:idx val="0"/>
            <c:invertIfNegative val="0"/>
            <c:bubble3D val="0"/>
            <c:spPr>
              <a:solidFill>
                <a:srgbClr val="9BA4BF"/>
              </a:solidFill>
              <a:effectLst/>
            </c:spPr>
          </c:dPt>
          <c:dPt>
            <c:idx val="1"/>
            <c:invertIfNegative val="0"/>
            <c:bubble3D val="0"/>
            <c:spPr>
              <a:solidFill>
                <a:srgbClr val="788AE4"/>
              </a:solidFill>
              <a:effectLst/>
            </c:spPr>
          </c:dPt>
          <c:dPt>
            <c:idx val="2"/>
            <c:invertIfNegative val="0"/>
            <c:bubble3D val="0"/>
            <c:spPr>
              <a:solidFill>
                <a:srgbClr val="F1B75E"/>
              </a:solidFill>
              <a:effectLst/>
            </c:spPr>
          </c:dPt>
          <c:cat>
            <c:multiLvlStrRef>
              <c:f>Sheet1!$A$2:$A$4</c:f>
              <c:multiLvlStrCache>
                <c:ptCount val="3"/>
                <c:lvl>
                  <c:pt idx="0">
                    <c:v>FULL</c:v>
                  </c:pt>
                  <c:pt idx="1">
                    <c:v>LINEAR</c:v>
                  </c:pt>
                  <c:pt idx="2">
                    <c:v>STAR</c:v>
                  </c:pt>
                </c:lvl>
              </c:multiLvlStrCache>
            </c:multiLvlStrRef>
          </c:cat>
          <c:val>
            <c:numRef>
              <c:f>Sheet1!$B$2:$B$4</c:f>
              <c:numCache>
                <c:formatCode>General</c:formatCode>
                <c:ptCount val="3"/>
                <c:pt idx="0">
                  <c:v>0.5866617231</c:v>
                </c:pt>
                <c:pt idx="1">
                  <c:v>0.5420936113</c:v>
                </c:pt>
                <c:pt idx="2">
                  <c:v>0.6220602201</c:v>
                </c:pt>
              </c:numCache>
            </c:numRef>
          </c:val>
        </c:ser>
        <c:dLbls>
          <c:numFmt formatCode="0.000" sourceLinked="0"/>
          <c:txPr>
            <a:bodyPr/>
            <a:lstStyle/>
            <a:p>
              <a:pPr>
                <a:defRPr b="0" i="0" strike="noStrike" sz="1450" u="none">
                  <a:solidFill>
                    <a:srgbClr val="FA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0475D"/>
            </a:solidFill>
            <a:prstDash val="solid"/>
            <a:round/>
          </a:ln>
        </c:spPr>
        <c:txPr>
          <a:bodyPr/>
          <a:lstStyle/>
          <a:p>
            <a:pPr>
              <a:defRPr sz="1500" b="0" i="0" u="none" strike="noStrike">
                <a:solidFill>
                  <a:srgbClr val="DCE0EE"/>
                </a:solidFill>
                <a:latin typeface="Aptos"/>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40475D"/>
              </a:solidFill>
              <a:prstDash val="solid"/>
              <a:round/>
            </a:ln>
          </c:spPr>
        </c:majorGridlines>
        <c:numFmt formatCode="General" sourceLinked="0"/>
        <c:majorTickMark val="out"/>
        <c:minorTickMark val="none"/>
        <c:tickLblPos val="nextTo"/>
        <c:spPr>
          <a:ln w="12700" cap="flat">
            <a:solidFill>
              <a:srgbClr val="40475D"/>
            </a:solidFill>
            <a:prstDash val="solid"/>
            <a:round/>
          </a:ln>
        </c:spPr>
        <c:txPr>
          <a:bodyPr/>
          <a:lstStyle/>
          <a:p>
            <a:pPr>
              <a:defRPr sz="1100" b="0" i="0" u="none" strike="noStrike">
                <a:solidFill>
                  <a:srgbClr val="B0B8CE"/>
                </a:solidFill>
                <a:latin typeface="Aptos"/>
              </a:defRPr>
            </a:pPr>
            <a:endParaRPr lang="en-US"/>
          </a:p>
        </c:txPr>
        <c:crossAx val="2094734554"/>
        <c:crosses val="autoZero"/>
        <c:crossBetween val="between"/>
        <c:majorUnit val="0.2"/>
      </c:valAx>
      <c:spPr>
        <a:solidFill>
          <a:srgbClr val="232635">
            <a:alpha val="0"/>
          </a:srgbClr>
        </a:solidFill>
        <a:ln>
          <a:noFill/>
        </a:ln>
        <a:effectLst/>
      </c:spPr>
    </c:plotArea>
    <c:plotVisOnly val="1"/>
    <c:dispBlanksAs val="span"/>
  </c:chart>
  <c:spPr>
    <a:solidFill>
      <a:srgbClr val="232635">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Z₀</c:v>
                </c:pt>
              </c:strCache>
            </c:strRef>
          </c:tx>
          <c:spPr>
            <a:solidFill>
              <a:srgbClr val="6DADF3"/>
            </a:solidFill>
            <a:ln w="31750" cap="flat">
              <a:solidFill>
                <a:srgbClr val="6DADF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DADF3"/>
              </a:solidFill>
              <a:ln w="9525" cap="flat">
                <a:solidFill>
                  <a:srgbClr val="6DADF3"/>
                </a:solidFill>
                <a:prstDash val="solid"/>
                <a:round/>
              </a:ln>
              <a:effectLst/>
            </c:spPr>
          </c:marker>
          <c:cat>
            <c:multiLvlStrRef>
              <c:f>Sheet1!$A$2:$A$5</c:f>
              <c:multiLvlStrCache>
                <c:ptCount val="4"/>
                <c:lvl>
                  <c:pt idx="0">
                    <c:v>0</c:v>
                  </c:pt>
                  <c:pt idx="1">
                    <c:v>0.001</c:v>
                  </c:pt>
                  <c:pt idx="2">
                    <c:v>0.01</c:v>
                  </c:pt>
                  <c:pt idx="3">
                    <c:v>0.05</c:v>
                  </c:pt>
                </c:lvl>
              </c:multiLvlStrCache>
            </c:multiLvlStrRef>
          </c:cat>
          <c:val>
            <c:numRef>
              <c:f>Sheet1!$B$2:$B$5</c:f>
              <c:numCache>
                <c:formatCode>General</c:formatCode>
                <c:ptCount val="4"/>
                <c:pt idx="0">
                  <c:v>0.662</c:v>
                </c:pt>
                <c:pt idx="1">
                  <c:v>0.661</c:v>
                </c:pt>
                <c:pt idx="2">
                  <c:v>0.654</c:v>
                </c:pt>
                <c:pt idx="3">
                  <c:v>0.622</c:v>
                </c:pt>
              </c:numCache>
            </c:numRef>
          </c:val>
          <c:smooth val="0"/>
        </c:ser>
        <c:ser>
          <c:idx val="1"/>
          <c:order val="1"/>
          <c:tx>
            <c:strRef>
              <c:f>Sheet1!$C$1</c:f>
              <c:strCache>
                <c:ptCount val="1"/>
                <c:pt idx="0">
                  <c:v>Z₁</c:v>
                </c:pt>
              </c:strCache>
            </c:strRef>
          </c:tx>
          <c:spPr>
            <a:solidFill>
              <a:srgbClr val="788AE4"/>
            </a:solidFill>
            <a:ln w="31750" cap="flat">
              <a:solidFill>
                <a:srgbClr val="788AE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88AE4"/>
              </a:solidFill>
              <a:ln w="9525" cap="flat">
                <a:solidFill>
                  <a:srgbClr val="788AE4"/>
                </a:solidFill>
                <a:prstDash val="solid"/>
                <a:round/>
              </a:ln>
              <a:effectLst/>
            </c:spPr>
          </c:marker>
          <c:cat>
            <c:multiLvlStrRef>
              <c:f>Sheet1!$A$2:$A$5</c:f>
              <c:multiLvlStrCache>
                <c:ptCount val="4"/>
                <c:lvl>
                  <c:pt idx="0">
                    <c:v>0</c:v>
                  </c:pt>
                  <c:pt idx="1">
                    <c:v>0.001</c:v>
                  </c:pt>
                  <c:pt idx="2">
                    <c:v>0.01</c:v>
                  </c:pt>
                  <c:pt idx="3">
                    <c:v>0.05</c:v>
                  </c:pt>
                </c:lvl>
              </c:multiLvlStrCache>
            </c:multiLvlStrRef>
          </c:cat>
          <c:val>
            <c:numRef>
              <c:f>Sheet1!$C$2:$C$5</c:f>
              <c:numCache>
                <c:formatCode>General</c:formatCode>
                <c:ptCount val="4"/>
                <c:pt idx="0">
                  <c:v>0.669</c:v>
                </c:pt>
                <c:pt idx="1">
                  <c:v>0.669</c:v>
                </c:pt>
                <c:pt idx="2">
                  <c:v>0.668</c:v>
                </c:pt>
                <c:pt idx="3">
                  <c:v>0.657</c:v>
                </c:pt>
              </c:numCache>
            </c:numRef>
          </c:val>
          <c:smooth val="0"/>
        </c:ser>
        <c:ser>
          <c:idx val="2"/>
          <c:order val="2"/>
          <c:tx>
            <c:strRef>
              <c:f>Sheet1!$D$1</c:f>
              <c:strCache>
                <c:ptCount val="1"/>
                <c:pt idx="0">
                  <c:v>Z₂</c:v>
                </c:pt>
              </c:strCache>
            </c:strRef>
          </c:tx>
          <c:spPr>
            <a:solidFill>
              <a:srgbClr val="62BDB9"/>
            </a:solidFill>
            <a:ln w="31750" cap="flat">
              <a:solidFill>
                <a:srgbClr val="62BDB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2BDB9"/>
              </a:solidFill>
              <a:ln w="9525" cap="flat">
                <a:solidFill>
                  <a:srgbClr val="62BDB9"/>
                </a:solidFill>
                <a:prstDash val="solid"/>
                <a:round/>
              </a:ln>
              <a:effectLst/>
            </c:spPr>
          </c:marker>
          <c:cat>
            <c:multiLvlStrRef>
              <c:f>Sheet1!$A$2:$A$5</c:f>
              <c:multiLvlStrCache>
                <c:ptCount val="4"/>
                <c:lvl>
                  <c:pt idx="0">
                    <c:v>0</c:v>
                  </c:pt>
                  <c:pt idx="1">
                    <c:v>0.001</c:v>
                  </c:pt>
                  <c:pt idx="2">
                    <c:v>0.01</c:v>
                  </c:pt>
                  <c:pt idx="3">
                    <c:v>0.05</c:v>
                  </c:pt>
                </c:lvl>
              </c:multiLvlStrCache>
            </c:multiLvlStrRef>
          </c:cat>
          <c:val>
            <c:numRef>
              <c:f>Sheet1!$D$2:$D$5</c:f>
              <c:numCache>
                <c:formatCode>General</c:formatCode>
                <c:ptCount val="4"/>
                <c:pt idx="0">
                  <c:v>0.643</c:v>
                </c:pt>
                <c:pt idx="1">
                  <c:v>0.643</c:v>
                </c:pt>
                <c:pt idx="2">
                  <c:v>0.634</c:v>
                </c:pt>
                <c:pt idx="3">
                  <c:v>0.574</c:v>
                </c:pt>
              </c:numCache>
            </c:numRef>
          </c:val>
          <c:smooth val="0"/>
        </c:ser>
        <c:ser>
          <c:idx val="3"/>
          <c:order val="3"/>
          <c:tx>
            <c:strRef>
              <c:f>Sheet1!$E$1</c:f>
              <c:strCache>
                <c:ptCount val="1"/>
                <c:pt idx="0">
                  <c:v>Z₃</c:v>
                </c:pt>
              </c:strCache>
            </c:strRef>
          </c:tx>
          <c:spPr>
            <a:solidFill>
              <a:srgbClr val="DA9163"/>
            </a:solidFill>
            <a:ln w="31750" cap="flat">
              <a:solidFill>
                <a:srgbClr val="DA916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A9163"/>
              </a:solidFill>
              <a:ln w="9525" cap="flat">
                <a:solidFill>
                  <a:srgbClr val="DA9163"/>
                </a:solidFill>
                <a:prstDash val="solid"/>
                <a:round/>
              </a:ln>
              <a:effectLst/>
            </c:spPr>
          </c:marker>
          <c:cat>
            <c:multiLvlStrRef>
              <c:f>Sheet1!$A$2:$A$5</c:f>
              <c:multiLvlStrCache>
                <c:ptCount val="4"/>
                <c:lvl>
                  <c:pt idx="0">
                    <c:v>0</c:v>
                  </c:pt>
                  <c:pt idx="1">
                    <c:v>0.001</c:v>
                  </c:pt>
                  <c:pt idx="2">
                    <c:v>0.01</c:v>
                  </c:pt>
                  <c:pt idx="3">
                    <c:v>0.05</c:v>
                  </c:pt>
                </c:lvl>
              </c:multiLvlStrCache>
            </c:multiLvlStrRef>
          </c:cat>
          <c:val>
            <c:numRef>
              <c:f>Sheet1!$E$2:$E$5</c:f>
              <c:numCache>
                <c:formatCode>General</c:formatCode>
                <c:ptCount val="4"/>
                <c:pt idx="0">
                  <c:v>0.68</c:v>
                </c:pt>
                <c:pt idx="1">
                  <c:v>0.68</c:v>
                </c:pt>
                <c:pt idx="2">
                  <c:v>0.677</c:v>
                </c:pt>
                <c:pt idx="3">
                  <c:v>0.623</c:v>
                </c:pt>
              </c:numCache>
            </c:numRef>
          </c:val>
          <c:smooth val="0"/>
        </c:ser>
        <c:ser>
          <c:idx val="4"/>
          <c:order val="4"/>
          <c:tx>
            <c:strRef>
              <c:f>Sheet1!$F$1</c:f>
              <c:strCache>
                <c:ptCount val="1"/>
                <c:pt idx="0">
                  <c:v>Z₀Z₁</c:v>
                </c:pt>
              </c:strCache>
            </c:strRef>
          </c:tx>
          <c:spPr>
            <a:solidFill>
              <a:srgbClr val="F1B75E"/>
            </a:solidFill>
            <a:ln w="31750" cap="flat">
              <a:solidFill>
                <a:srgbClr val="F1B7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1B75E"/>
              </a:solidFill>
              <a:ln w="9525" cap="flat">
                <a:solidFill>
                  <a:srgbClr val="F1B75E"/>
                </a:solidFill>
                <a:prstDash val="solid"/>
                <a:round/>
              </a:ln>
              <a:effectLst/>
            </c:spPr>
          </c:marker>
          <c:cat>
            <c:multiLvlStrRef>
              <c:f>Sheet1!$A$2:$A$5</c:f>
              <c:multiLvlStrCache>
                <c:ptCount val="4"/>
                <c:lvl>
                  <c:pt idx="0">
                    <c:v>0</c:v>
                  </c:pt>
                  <c:pt idx="1">
                    <c:v>0.001</c:v>
                  </c:pt>
                  <c:pt idx="2">
                    <c:v>0.01</c:v>
                  </c:pt>
                  <c:pt idx="3">
                    <c:v>0.05</c:v>
                  </c:pt>
                </c:lvl>
              </c:multiLvlStrCache>
            </c:multiLvlStrRef>
          </c:cat>
          <c:val>
            <c:numRef>
              <c:f>Sheet1!$F$2:$F$5</c:f>
              <c:numCache>
                <c:formatCode>General</c:formatCode>
                <c:ptCount val="4"/>
                <c:pt idx="0">
                  <c:v>0.676</c:v>
                </c:pt>
                <c:pt idx="1">
                  <c:v>0.675</c:v>
                </c:pt>
                <c:pt idx="2">
                  <c:v>0.677</c:v>
                </c:pt>
                <c:pt idx="3">
                  <c:v>0.678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40475D"/>
            </a:solidFill>
            <a:prstDash val="solid"/>
            <a:round/>
          </a:ln>
        </c:spPr>
        <c:txPr>
          <a:bodyPr/>
          <a:lstStyle/>
          <a:p>
            <a:pPr>
              <a:defRPr sz="1300" b="0" i="0" u="none" strike="noStrike">
                <a:solidFill>
                  <a:srgbClr val="DCE0EE"/>
                </a:solidFill>
                <a:latin typeface="Arial"/>
              </a:defRPr>
            </a:pPr>
            <a:endParaRPr lang="en-US"/>
          </a:p>
        </c:txPr>
        <c:crossAx val="2094734552"/>
        <c:crosses val="autoZero"/>
        <c:auto val="1"/>
        <c:lblAlgn val="ctr"/>
        <c:noMultiLvlLbl val="1"/>
      </c:catAx>
      <c:valAx>
        <c:axId val="2094734552"/>
        <c:scaling>
          <c:orientation val="minMax"/>
          <c:max val="0.75"/>
          <c:min val="0.5"/>
        </c:scaling>
        <c:delete val="0"/>
        <c:axPos val="l"/>
        <c:majorGridlines>
          <c:spPr>
            <a:ln w="12700" cap="flat">
              <a:solidFill>
                <a:srgbClr val="40475D"/>
              </a:solidFill>
              <a:prstDash val="solid"/>
              <a:round/>
            </a:ln>
          </c:spPr>
        </c:majorGridlines>
        <c:numFmt formatCode="General" sourceLinked="0"/>
        <c:majorTickMark val="out"/>
        <c:minorTickMark val="none"/>
        <c:tickLblPos val="nextTo"/>
        <c:spPr>
          <a:ln w="12700" cap="flat">
            <a:solidFill>
              <a:srgbClr val="40475D"/>
            </a:solidFill>
            <a:prstDash val="solid"/>
            <a:round/>
          </a:ln>
        </c:spPr>
        <c:txPr>
          <a:bodyPr/>
          <a:lstStyle/>
          <a:p>
            <a:pPr>
              <a:defRPr sz="1100" b="0" i="0" u="none" strike="noStrike">
                <a:solidFill>
                  <a:srgbClr val="B0B8CE"/>
                </a:solidFill>
                <a:latin typeface="Arial"/>
              </a:defRPr>
            </a:pPr>
            <a:endParaRPr lang="en-US"/>
          </a:p>
        </c:txPr>
        <c:crossAx val="2094734554"/>
        <c:crosses val="autoZero"/>
        <c:crossBetween val="between"/>
        <c:majorUnit val="0.05"/>
      </c:valAx>
      <c:spPr>
        <a:solidFill>
          <a:srgbClr val="232635">
            <a:alpha val="0"/>
          </a:srgbClr>
        </a:solidFill>
        <a:ln>
          <a:noFill/>
        </a:ln>
        <a:effectLst/>
      </c:spPr>
    </c:plotArea>
    <c:plotVisOnly val="1"/>
    <c:dispBlanksAs val="span"/>
  </c:chart>
  <c:spPr>
    <a:solidFill>
      <a:srgbClr val="232635">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Acesta este punctul nostru de plecare: clasificatorul VQC din Notebookul 1. Am comparat trei raporturi de subeșantionare pe validation, fără zgomot, folosind cinci seeds. Raportul unu la unu a obținut AUPRC 0,568, față de 0,534 și 0,498 pentru celelalte variante. Astfel, am ales 295 de fraude și 295 de tranzacții legitime per seed. Separat, când am aplicat zgomotul depolarizant de probabilitate p egal 0,05 baseline-ului din Experimentul 2, AUPRC pe validation a scăzut la 0,381. Valorile provin din experimente diferite; nu trebuie confundate. p reprezintă probabilitatea canalului de depolarizare per poartă, nu pragul de clasificare.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pornit de la configurația de referință cu două repetiții ale feature map-ului ZZ și am redus acest număr la una, păstrând ansatz-ul neschimbat. Am redus porțile CNOT de la 33 la 21 și locațiile de zgomot de la 126 la 88. Experimentul 4 a adăugat regresia logistică pe aceiași patru parametri de intrare, pentru comparație corectă. În Experimentul 5, la p egal 0,05, AUPRC pe test a crescut de la 0,405 la 0,617 pentru circuitul simplificat, iar regresia logistică a obținut 0,703. Acestea sunt medii pe cinci seeds; pragurile pentru metricile operaționale sunt alese pe validation, nu pe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Experimentul 9 am comparat trei topologii de interacțiuni ZZ cu aceeași adâncime a feature map-ului: FULL, LINEAR și STAR. Toate modelele au fost reantrenate separat pentru cele cinci seeds. La probabilitatea de zgomot 0,05, STAR a avut cea mai mare AUPRC pe validation, aproximativ 0,622, față de 0,587 pentru FULL și 0,542 pentru LINEAR. STAR folosește 15 CNOT și 73 de locații de zgomot. Recall-ul mediu a fost 67,7 procente, iar alarmele false 16,4. Observație: LINEAR are același număr de CNOT ca STAR; avantajul lor relativ este asociat tiparului de interacțiuni, nu unei reduceri suplimentare de porți.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După ce am selectat STAR, în Experimentul 11 am păstrat circuitul cu 15 CNOT și am schimbat exclusiv observabila citită. Am comparat Z zero, Z unu, Z doi, Z trei și paritatea Z zero Z unu. Cu scoruri de așteptare exacte, ultima variantă a obținut AUPRC 0,678 pe validation la p egal 0,05, față de 0,622 pentru Z zero. Recall-ul este 69,5 procente, cu 18,2 alarme false în medie. Pragul max-F1 a fost ales pe validation la același nivel de zgomot, astfel că metricile operaționale sunt optimiste. Analiza ulterioară a arătat că această variantă pierde performanță la 1024 de shots; avantajul ei privește protocolul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evaluarea finală a Experimentului 12 am folosit modelele și pragurile înghețate, fără reantrenare. Graficul arată AUPRC pe setul de test la cele patru niveluri de zgomot, cu valori medii pe cinci seeds. La p egal 0,05, modelul STAR cu paritate Z zero Z unu atinge 0,709 plus minus 0,033 abatere standard AUPRC, față de 0,405 pentru baseline. Detectează în medie 72 dintre cele 98 de fraude, cu 22,4 alarme false. Regresia logistică are AUPRC apropiată, 0,703, și recall mai bun, 80,8 procente. Nu pretindem avantaj cuantic statistic demonstrat. Testul a fost consultat și în Experimentul 5, deci nu este complet independent de explorarea anterioară. Concluzia: optimizările circuitului și măsurării au îmbunătățit substantial clasificatorul în simularea exactă, cu limitări la finite 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B24"/>
        </a:solidFill>
      </p:bgPr>
    </p:bg>
    <p:spTree>
      <p:nvGrpSpPr>
        <p:cNvPr id="1" name=""/>
        <p:cNvGrpSpPr/>
        <p:nvPr/>
      </p:nvGrpSpPr>
      <p:grpSpPr>
        <a:xfrm>
          <a:off x="0" y="0"/>
          <a:ext cx="0" cy="0"/>
          <a:chOff x="0" y="0"/>
          <a:chExt cx="0" cy="0"/>
        </a:xfrm>
      </p:grpSpPr>
      <p:sp>
        <p:nvSpPr>
          <p:cNvPr id="2" name="Shape 0"/>
          <p:cNvSpPr/>
          <p:nvPr/>
        </p:nvSpPr>
        <p:spPr>
          <a:xfrm rot="1800000">
            <a:off x="10881360" y="-411480"/>
            <a:ext cx="1463040" cy="1463040"/>
          </a:xfrm>
          <a:prstGeom prst="arc">
            <a:avLst/>
          </a:prstGeom>
          <a:solidFill>
            <a:srgbClr val="191B24">
              <a:alpha val="0"/>
            </a:srgbClr>
          </a:solidFill>
          <a:ln w="12700">
            <a:solidFill>
              <a:srgbClr val="788AE4">
                <a:alpha val="25000"/>
              </a:srgbClr>
            </a:solidFill>
            <a:prstDash val="solid"/>
          </a:ln>
        </p:spPr>
      </p:sp>
      <p:sp>
        <p:nvSpPr>
          <p:cNvPr id="3" name="Shape 1"/>
          <p:cNvSpPr/>
          <p:nvPr/>
        </p:nvSpPr>
        <p:spPr>
          <a:xfrm rot="3720000">
            <a:off x="11201400" y="-219456"/>
            <a:ext cx="1051560" cy="1051560"/>
          </a:xfrm>
          <a:prstGeom prst="arc">
            <a:avLst/>
          </a:prstGeom>
          <a:solidFill>
            <a:srgbClr val="191B24">
              <a:alpha val="0"/>
            </a:srgbClr>
          </a:solidFill>
          <a:ln w="12700">
            <a:solidFill>
              <a:srgbClr val="F1B75E">
                <a:alpha val="25000"/>
              </a:srgbClr>
            </a:solidFill>
            <a:prstDash val="solid"/>
          </a:ln>
        </p:spPr>
      </p:sp>
      <p:sp>
        <p:nvSpPr>
          <p:cNvPr id="4" name="Text 2"/>
          <p:cNvSpPr/>
          <p:nvPr/>
        </p:nvSpPr>
        <p:spPr>
          <a:xfrm>
            <a:off x="630936" y="201168"/>
            <a:ext cx="2148840" cy="201168"/>
          </a:xfrm>
          <a:prstGeom prst="rect">
            <a:avLst/>
          </a:prstGeom>
          <a:noFill/>
          <a:ln/>
        </p:spPr>
        <p:txBody>
          <a:bodyPr wrap="square" lIns="0" tIns="0" rIns="0" bIns="0" rtlCol="0" anchor="ctr">
            <a:normAutofit/>
          </a:bodyPr>
          <a:lstStyle/>
          <a:p>
            <a:pPr indent="0" marL="0">
              <a:buNone/>
            </a:pPr>
            <a:r>
              <a:rPr lang="en-US" sz="1020" b="1" spc="150" kern="0" dirty="0">
                <a:solidFill>
                  <a:srgbClr val="F1B75E"/>
                </a:solidFill>
                <a:latin typeface="Aptos" pitchFamily="34" charset="0"/>
                <a:ea typeface="Aptos" pitchFamily="34" charset="-122"/>
                <a:cs typeface="Aptos" pitchFamily="34" charset="-120"/>
              </a:rPr>
              <a:t>BREAQ 2026</a:t>
            </a:r>
            <a:endParaRPr lang="en-US" sz="1020" dirty="0"/>
          </a:p>
        </p:txBody>
      </p:sp>
      <p:sp>
        <p:nvSpPr>
          <p:cNvPr id="5" name="Text 3"/>
          <p:cNvSpPr/>
          <p:nvPr/>
        </p:nvSpPr>
        <p:spPr>
          <a:xfrm>
            <a:off x="2788920" y="210312"/>
            <a:ext cx="5394960" cy="192024"/>
          </a:xfrm>
          <a:prstGeom prst="rect">
            <a:avLst/>
          </a:prstGeom>
          <a:noFill/>
          <a:ln/>
        </p:spPr>
        <p:txBody>
          <a:bodyPr wrap="square" lIns="0" tIns="0" rIns="0" bIns="0" rtlCol="0" anchor="ctr">
            <a:normAutofit/>
          </a:bodyPr>
          <a:lstStyle/>
          <a:p>
            <a:pPr indent="0" marL="0">
              <a:buNone/>
            </a:pPr>
            <a:r>
              <a:rPr lang="en-US" sz="970" spc="110" kern="0" dirty="0">
                <a:solidFill>
                  <a:srgbClr val="8793B1"/>
                </a:solidFill>
                <a:latin typeface="Aptos" pitchFamily="34" charset="0"/>
                <a:ea typeface="Aptos" pitchFamily="34" charset="-122"/>
                <a:cs typeface="Aptos" pitchFamily="34" charset="-120"/>
              </a:rPr>
              <a:t>EXPERIMENTS 1–2</a:t>
            </a:r>
            <a:endParaRPr lang="en-US" sz="970" dirty="0"/>
          </a:p>
        </p:txBody>
      </p:sp>
      <p:sp>
        <p:nvSpPr>
          <p:cNvPr id="6" name="Text 4"/>
          <p:cNvSpPr/>
          <p:nvPr/>
        </p:nvSpPr>
        <p:spPr>
          <a:xfrm>
            <a:off x="11018520" y="155448"/>
            <a:ext cx="594360" cy="310896"/>
          </a:xfrm>
          <a:prstGeom prst="rect">
            <a:avLst/>
          </a:prstGeom>
          <a:noFill/>
          <a:ln/>
        </p:spPr>
        <p:txBody>
          <a:bodyPr wrap="square" lIns="0" tIns="0" rIns="0" bIns="0" rtlCol="0" anchor="ctr">
            <a:normAutofit/>
          </a:bodyPr>
          <a:lstStyle/>
          <a:p>
            <a:pPr algn="r" indent="0" marL="0">
              <a:buNone/>
            </a:pPr>
            <a:r>
              <a:rPr lang="en-US" sz="1500" b="1" dirty="0">
                <a:solidFill>
                  <a:srgbClr val="DCE0EE"/>
                </a:solidFill>
                <a:latin typeface="Aptos" pitchFamily="34" charset="0"/>
                <a:ea typeface="Aptos" pitchFamily="34" charset="-122"/>
                <a:cs typeface="Aptos" pitchFamily="34" charset="-120"/>
              </a:rPr>
              <a:t>01</a:t>
            </a:r>
            <a:endParaRPr lang="en-US" sz="1500" dirty="0"/>
          </a:p>
        </p:txBody>
      </p:sp>
      <p:sp>
        <p:nvSpPr>
          <p:cNvPr id="7" name="Shape 5"/>
          <p:cNvSpPr/>
          <p:nvPr/>
        </p:nvSpPr>
        <p:spPr>
          <a:xfrm>
            <a:off x="640080" y="557784"/>
            <a:ext cx="10927080" cy="0"/>
          </a:xfrm>
          <a:prstGeom prst="line">
            <a:avLst/>
          </a:prstGeom>
          <a:noFill/>
          <a:ln w="9525">
            <a:solidFill>
              <a:srgbClr val="3D435C"/>
            </a:solidFill>
            <a:prstDash val="solid"/>
          </a:ln>
        </p:spPr>
      </p:sp>
      <p:sp>
        <p:nvSpPr>
          <p:cNvPr id="8" name="Text 6"/>
          <p:cNvSpPr/>
          <p:nvPr/>
        </p:nvSpPr>
        <p:spPr>
          <a:xfrm>
            <a:off x="676656" y="667512"/>
            <a:ext cx="10744200" cy="228600"/>
          </a:xfrm>
          <a:prstGeom prst="rect">
            <a:avLst/>
          </a:prstGeom>
          <a:noFill/>
          <a:ln/>
        </p:spPr>
        <p:txBody>
          <a:bodyPr wrap="square" lIns="0" tIns="0" rIns="0" bIns="0" rtlCol="0" anchor="ctr">
            <a:normAutofit/>
          </a:bodyPr>
          <a:lstStyle/>
          <a:p>
            <a:pPr indent="0" marL="0">
              <a:buNone/>
            </a:pPr>
            <a:r>
              <a:rPr lang="en-US" sz="1130" spc="30" kern="0" dirty="0">
                <a:solidFill>
                  <a:srgbClr val="B0B8CE"/>
                </a:solidFill>
                <a:latin typeface="Aptos" pitchFamily="34" charset="0"/>
                <a:ea typeface="Aptos" pitchFamily="34" charset="-122"/>
                <a:cs typeface="Aptos" pitchFamily="34" charset="-120"/>
              </a:rPr>
              <a:t>CONTRIBUTORS:  ALEXANDRU COVALIOV MOCENCO  &amp;  ALEXANDRU VRABIE</a:t>
            </a:r>
            <a:endParaRPr lang="en-US" sz="1130" dirty="0"/>
          </a:p>
        </p:txBody>
      </p:sp>
      <p:sp>
        <p:nvSpPr>
          <p:cNvPr id="9" name="Text 7"/>
          <p:cNvSpPr/>
          <p:nvPr/>
        </p:nvSpPr>
        <p:spPr>
          <a:xfrm>
            <a:off x="658368" y="1005840"/>
            <a:ext cx="10652760" cy="530352"/>
          </a:xfrm>
          <a:prstGeom prst="rect">
            <a:avLst/>
          </a:prstGeom>
          <a:noFill/>
          <a:ln/>
        </p:spPr>
        <p:txBody>
          <a:bodyPr wrap="square" lIns="0" tIns="0" rIns="0" bIns="0" rtlCol="0" anchor="ctr">
            <a:normAutofit/>
          </a:bodyPr>
          <a:lstStyle/>
          <a:p>
            <a:pPr indent="0" marL="0">
              <a:buNone/>
            </a:pPr>
            <a:r>
              <a:rPr lang="en-US" sz="3200" b="1" dirty="0">
                <a:solidFill>
                  <a:srgbClr val="FAFAFC"/>
                </a:solidFill>
                <a:latin typeface="Aptos" pitchFamily="34" charset="0"/>
                <a:ea typeface="Aptos" pitchFamily="34" charset="-122"/>
                <a:cs typeface="Aptos" pitchFamily="34" charset="-120"/>
              </a:rPr>
              <a:t>Baseline &amp; Training Balance</a:t>
            </a:r>
            <a:endParaRPr lang="en-US" sz="3200" dirty="0"/>
          </a:p>
        </p:txBody>
      </p:sp>
      <p:sp>
        <p:nvSpPr>
          <p:cNvPr id="10" name="Text 8"/>
          <p:cNvSpPr/>
          <p:nvPr/>
        </p:nvSpPr>
        <p:spPr>
          <a:xfrm>
            <a:off x="676656" y="1600200"/>
            <a:ext cx="10652760" cy="292608"/>
          </a:xfrm>
          <a:prstGeom prst="rect">
            <a:avLst/>
          </a:prstGeom>
          <a:noFill/>
          <a:ln/>
        </p:spPr>
        <p:txBody>
          <a:bodyPr wrap="square" lIns="0" tIns="0" rIns="0" bIns="0" rtlCol="0" anchor="ctr">
            <a:normAutofit/>
          </a:bodyPr>
          <a:lstStyle/>
          <a:p>
            <a:pPr indent="0" marL="0">
              <a:buNone/>
            </a:pPr>
            <a:r>
              <a:rPr lang="en-US" sz="1550" dirty="0">
                <a:solidFill>
                  <a:srgbClr val="B0B8CE"/>
                </a:solidFill>
                <a:latin typeface="Aptos" pitchFamily="34" charset="0"/>
                <a:ea typeface="Aptos" pitchFamily="34" charset="-122"/>
                <a:cs typeface="Aptos" pitchFamily="34" charset="-120"/>
              </a:rPr>
              <a:t>Reference Notebook 1  •  Select an effective undersampling ratio before circuit optimization</a:t>
            </a:r>
            <a:endParaRPr lang="en-US" sz="1550" dirty="0"/>
          </a:p>
        </p:txBody>
      </p:sp>
      <p:sp>
        <p:nvSpPr>
          <p:cNvPr id="11" name="Shape 9"/>
          <p:cNvSpPr/>
          <p:nvPr/>
        </p:nvSpPr>
        <p:spPr>
          <a:xfrm>
            <a:off x="640080" y="6373368"/>
            <a:ext cx="10927080" cy="0"/>
          </a:xfrm>
          <a:prstGeom prst="line">
            <a:avLst/>
          </a:prstGeom>
          <a:noFill/>
          <a:ln w="8890">
            <a:solidFill>
              <a:srgbClr val="3D435C"/>
            </a:solidFill>
            <a:prstDash val="solid"/>
          </a:ln>
        </p:spPr>
      </p:sp>
      <p:sp>
        <p:nvSpPr>
          <p:cNvPr id="12" name="Text 10"/>
          <p:cNvSpPr/>
          <p:nvPr/>
        </p:nvSpPr>
        <p:spPr>
          <a:xfrm>
            <a:off x="658368" y="6446520"/>
            <a:ext cx="8961120" cy="201168"/>
          </a:xfrm>
          <a:prstGeom prst="rect">
            <a:avLst/>
          </a:prstGeom>
          <a:noFill/>
          <a:ln/>
        </p:spPr>
        <p:txBody>
          <a:bodyPr wrap="square" lIns="0" tIns="0" rIns="0" bIns="0" rtlCol="0" anchor="ctr">
            <a:normAutofit/>
          </a:bodyPr>
          <a:lstStyle/>
          <a:p>
            <a:pPr indent="0" marL="0">
              <a:buNone/>
            </a:pPr>
            <a:r>
              <a:rPr lang="en-US" sz="950" dirty="0">
                <a:solidFill>
                  <a:srgbClr val="8793B1"/>
                </a:solidFill>
                <a:latin typeface="Aptos" pitchFamily="34" charset="0"/>
                <a:ea typeface="Aptos" pitchFamily="34" charset="-122"/>
                <a:cs typeface="Aptos" pitchFamily="34" charset="-120"/>
              </a:rPr>
              <a:t>Fraud on a Quantum Budget  •  Exact density-matrix evaluation unless stated</a:t>
            </a:r>
            <a:endParaRPr lang="en-US" sz="950" dirty="0"/>
          </a:p>
        </p:txBody>
      </p:sp>
      <p:sp>
        <p:nvSpPr>
          <p:cNvPr id="13" name="Text 11"/>
          <p:cNvSpPr/>
          <p:nvPr/>
        </p:nvSpPr>
        <p:spPr>
          <a:xfrm>
            <a:off x="9738360" y="6446520"/>
            <a:ext cx="1783080" cy="201168"/>
          </a:xfrm>
          <a:prstGeom prst="rect">
            <a:avLst/>
          </a:prstGeom>
          <a:noFill/>
          <a:ln/>
        </p:spPr>
        <p:txBody>
          <a:bodyPr wrap="square" lIns="0" tIns="0" rIns="0" bIns="0" rtlCol="0" anchor="ctr">
            <a:normAutofit/>
          </a:bodyPr>
          <a:lstStyle/>
          <a:p>
            <a:pPr algn="r" indent="0" marL="0">
              <a:buNone/>
            </a:pPr>
            <a:r>
              <a:rPr lang="en-US" sz="960" dirty="0">
                <a:solidFill>
                  <a:srgbClr val="8793B1"/>
                </a:solidFill>
                <a:latin typeface="Aptos" pitchFamily="34" charset="0"/>
                <a:ea typeface="Aptos" pitchFamily="34" charset="-122"/>
                <a:cs typeface="Aptos" pitchFamily="34" charset="-120"/>
              </a:rPr>
              <a:t>BREAQ 2026   /   01</a:t>
            </a:r>
            <a:endParaRPr lang="en-US" sz="960" dirty="0"/>
          </a:p>
        </p:txBody>
      </p:sp>
      <p:sp>
        <p:nvSpPr>
          <p:cNvPr id="14" name="Shape 12"/>
          <p:cNvSpPr/>
          <p:nvPr/>
        </p:nvSpPr>
        <p:spPr>
          <a:xfrm>
            <a:off x="630936" y="2084832"/>
            <a:ext cx="7909560" cy="4059936"/>
          </a:xfrm>
          <a:prstGeom prst="roundRect">
            <a:avLst>
              <a:gd name="adj" fmla="val 2252"/>
            </a:avLst>
          </a:prstGeom>
          <a:solidFill>
            <a:srgbClr val="232635"/>
          </a:solidFill>
          <a:ln w="8890">
            <a:solidFill>
              <a:srgbClr val="3D435C"/>
            </a:solidFill>
            <a:prstDash val="solid"/>
          </a:ln>
        </p:spPr>
      </p:sp>
      <p:sp>
        <p:nvSpPr>
          <p:cNvPr id="15" name="Text 13"/>
          <p:cNvSpPr/>
          <p:nvPr/>
        </p:nvSpPr>
        <p:spPr>
          <a:xfrm>
            <a:off x="850392" y="2240280"/>
            <a:ext cx="7452360" cy="246888"/>
          </a:xfrm>
          <a:prstGeom prst="rect">
            <a:avLst/>
          </a:prstGeom>
          <a:noFill/>
          <a:ln/>
        </p:spPr>
        <p:txBody>
          <a:bodyPr wrap="square" lIns="0" tIns="0" rIns="0" bIns="0" rtlCol="0" anchor="ctr">
            <a:normAutofit/>
          </a:bodyPr>
          <a:lstStyle/>
          <a:p>
            <a:pPr indent="0" marL="0">
              <a:buNone/>
            </a:pPr>
            <a:r>
              <a:rPr lang="en-US" sz="1100" b="1" spc="100" kern="0" dirty="0">
                <a:solidFill>
                  <a:srgbClr val="DCE0EE"/>
                </a:solidFill>
                <a:latin typeface="Aptos" pitchFamily="34" charset="0"/>
                <a:ea typeface="Aptos" pitchFamily="34" charset="-122"/>
                <a:cs typeface="Aptos" pitchFamily="34" charset="-120"/>
              </a:rPr>
              <a:t>VALIDATION AUPRC  •  P = 0  •  MEAN OVER 5 SEEDS</a:t>
            </a:r>
            <a:endParaRPr lang="en-US" sz="1100" dirty="0"/>
          </a:p>
        </p:txBody>
      </p:sp>
      <p:sp>
        <p:nvSpPr>
          <p:cNvPr id="16" name="Shape 14"/>
          <p:cNvSpPr/>
          <p:nvPr/>
        </p:nvSpPr>
        <p:spPr>
          <a:xfrm>
            <a:off x="822960" y="2587752"/>
            <a:ext cx="7525512" cy="0"/>
          </a:xfrm>
          <a:prstGeom prst="line">
            <a:avLst/>
          </a:prstGeom>
          <a:noFill/>
          <a:ln w="8255">
            <a:solidFill>
              <a:srgbClr val="3D435C"/>
            </a:solidFill>
            <a:prstDash val="solid"/>
          </a:ln>
        </p:spPr>
      </p:sp>
      <p:graphicFrame>
        <p:nvGraphicFramePr>
          <p:cNvPr id="17" name="Chart 0" descr=""/>
          <p:cNvGraphicFramePr/>
          <p:nvPr/>
        </p:nvGraphicFramePr>
        <p:xfrm>
          <a:off x="886968" y="2688336"/>
          <a:ext cx="7406640" cy="301752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1225296" y="5715000"/>
            <a:ext cx="1051560" cy="301752"/>
          </a:xfrm>
          <a:prstGeom prst="roundRect">
            <a:avLst>
              <a:gd name="adj" fmla="val 39394"/>
            </a:avLst>
          </a:prstGeom>
          <a:solidFill>
            <a:srgbClr val="232635"/>
          </a:solidFill>
          <a:ln w="8890">
            <a:solidFill>
              <a:srgbClr val="3D435C"/>
            </a:solidFill>
            <a:prstDash val="solid"/>
          </a:ln>
        </p:spPr>
      </p:sp>
      <p:sp>
        <p:nvSpPr>
          <p:cNvPr id="19" name="Text 16"/>
          <p:cNvSpPr/>
          <p:nvPr/>
        </p:nvSpPr>
        <p:spPr>
          <a:xfrm>
            <a:off x="1316736" y="5733288"/>
            <a:ext cx="868680" cy="265176"/>
          </a:xfrm>
          <a:prstGeom prst="rect">
            <a:avLst/>
          </a:prstGeom>
          <a:noFill/>
          <a:ln/>
        </p:spPr>
        <p:txBody>
          <a:bodyPr wrap="square" lIns="0" tIns="0" rIns="0" bIns="0" rtlCol="0" anchor="ctr">
            <a:normAutofit/>
          </a:bodyPr>
          <a:lstStyle/>
          <a:p>
            <a:pPr algn="ctr" indent="0" marL="0">
              <a:buNone/>
            </a:pPr>
            <a:r>
              <a:rPr lang="en-US" sz="1040" b="1" dirty="0">
                <a:solidFill>
                  <a:srgbClr val="F1B75E"/>
                </a:solidFill>
                <a:latin typeface="Aptos" pitchFamily="34" charset="0"/>
                <a:ea typeface="Aptos" pitchFamily="34" charset="-122"/>
                <a:cs typeface="Aptos" pitchFamily="34" charset="-120"/>
              </a:rPr>
              <a:t>SELECTED</a:t>
            </a:r>
            <a:endParaRPr lang="en-US" sz="1040" dirty="0"/>
          </a:p>
        </p:txBody>
      </p:sp>
      <p:sp>
        <p:nvSpPr>
          <p:cNvPr id="20" name="Shape 17"/>
          <p:cNvSpPr/>
          <p:nvPr/>
        </p:nvSpPr>
        <p:spPr>
          <a:xfrm>
            <a:off x="8741664" y="2084832"/>
            <a:ext cx="2798064" cy="1234440"/>
          </a:xfrm>
          <a:prstGeom prst="roundRect">
            <a:avLst>
              <a:gd name="adj" fmla="val 9630"/>
            </a:avLst>
          </a:prstGeom>
          <a:solidFill>
            <a:srgbClr val="282B3B"/>
          </a:solidFill>
          <a:ln w="8890">
            <a:solidFill>
              <a:srgbClr val="3D435C"/>
            </a:solidFill>
            <a:prstDash val="solid"/>
          </a:ln>
        </p:spPr>
      </p:sp>
      <p:sp>
        <p:nvSpPr>
          <p:cNvPr id="21" name="Shape 18"/>
          <p:cNvSpPr/>
          <p:nvPr/>
        </p:nvSpPr>
        <p:spPr>
          <a:xfrm>
            <a:off x="8741664" y="2194560"/>
            <a:ext cx="40234" cy="1014984"/>
          </a:xfrm>
          <a:prstGeom prst="rect">
            <a:avLst/>
          </a:prstGeom>
          <a:solidFill>
            <a:srgbClr val="F1B75E"/>
          </a:solidFill>
          <a:ln w="12700">
            <a:solidFill>
              <a:srgbClr val="F1B75E">
                <a:alpha val="0"/>
              </a:srgbClr>
            </a:solidFill>
            <a:prstDash val="solid"/>
          </a:ln>
        </p:spPr>
      </p:sp>
      <p:sp>
        <p:nvSpPr>
          <p:cNvPr id="22" name="Text 19"/>
          <p:cNvSpPr/>
          <p:nvPr/>
        </p:nvSpPr>
        <p:spPr>
          <a:xfrm>
            <a:off x="8915400" y="2249424"/>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1:1</a:t>
            </a:r>
            <a:endParaRPr lang="en-US" sz="2700" dirty="0"/>
          </a:p>
        </p:txBody>
      </p:sp>
      <p:sp>
        <p:nvSpPr>
          <p:cNvPr id="23" name="Text 20"/>
          <p:cNvSpPr/>
          <p:nvPr/>
        </p:nvSpPr>
        <p:spPr>
          <a:xfrm>
            <a:off x="8915400" y="2788920"/>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Fraud : legitimate ratio</a:t>
            </a:r>
            <a:endParaRPr lang="en-US" sz="1170" dirty="0"/>
          </a:p>
        </p:txBody>
      </p:sp>
      <p:sp>
        <p:nvSpPr>
          <p:cNvPr id="24" name="Text 21"/>
          <p:cNvSpPr/>
          <p:nvPr/>
        </p:nvSpPr>
        <p:spPr>
          <a:xfrm>
            <a:off x="8915400" y="3008376"/>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Best validation AUPRC of the three</a:t>
            </a:r>
            <a:endParaRPr lang="en-US" sz="1040" dirty="0"/>
          </a:p>
        </p:txBody>
      </p:sp>
      <p:sp>
        <p:nvSpPr>
          <p:cNvPr id="25" name="Shape 22"/>
          <p:cNvSpPr/>
          <p:nvPr/>
        </p:nvSpPr>
        <p:spPr>
          <a:xfrm>
            <a:off x="8741664" y="3438144"/>
            <a:ext cx="2798064" cy="1234440"/>
          </a:xfrm>
          <a:prstGeom prst="roundRect">
            <a:avLst>
              <a:gd name="adj" fmla="val 9630"/>
            </a:avLst>
          </a:prstGeom>
          <a:solidFill>
            <a:srgbClr val="282B3B"/>
          </a:solidFill>
          <a:ln w="8890">
            <a:solidFill>
              <a:srgbClr val="3D435C"/>
            </a:solidFill>
            <a:prstDash val="solid"/>
          </a:ln>
        </p:spPr>
      </p:sp>
      <p:sp>
        <p:nvSpPr>
          <p:cNvPr id="26" name="Text 23"/>
          <p:cNvSpPr/>
          <p:nvPr/>
        </p:nvSpPr>
        <p:spPr>
          <a:xfrm>
            <a:off x="8915400" y="3602736"/>
            <a:ext cx="2450592" cy="475488"/>
          </a:xfrm>
          <a:prstGeom prst="rect">
            <a:avLst/>
          </a:prstGeom>
          <a:noFill/>
          <a:ln/>
        </p:spPr>
        <p:txBody>
          <a:bodyPr wrap="square" lIns="0" tIns="0" rIns="0" bIns="0" rtlCol="0" anchor="ctr">
            <a:normAutofit/>
          </a:bodyPr>
          <a:lstStyle/>
          <a:p>
            <a:pPr indent="0" marL="0">
              <a:buNone/>
            </a:pPr>
            <a:r>
              <a:rPr lang="en-US" sz="2700" b="1" dirty="0">
                <a:solidFill>
                  <a:srgbClr val="FAFAFC"/>
                </a:solidFill>
                <a:latin typeface="Aptos" pitchFamily="34" charset="0"/>
                <a:ea typeface="Aptos" pitchFamily="34" charset="-122"/>
                <a:cs typeface="Aptos" pitchFamily="34" charset="-120"/>
              </a:rPr>
              <a:t>590</a:t>
            </a:r>
            <a:endParaRPr lang="en-US" sz="2700" dirty="0"/>
          </a:p>
        </p:txBody>
      </p:sp>
      <p:sp>
        <p:nvSpPr>
          <p:cNvPr id="27" name="Text 24"/>
          <p:cNvSpPr/>
          <p:nvPr/>
        </p:nvSpPr>
        <p:spPr>
          <a:xfrm>
            <a:off x="8915400" y="4142232"/>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Training transactions / seed</a:t>
            </a:r>
            <a:endParaRPr lang="en-US" sz="1170" dirty="0"/>
          </a:p>
        </p:txBody>
      </p:sp>
      <p:sp>
        <p:nvSpPr>
          <p:cNvPr id="28" name="Text 25"/>
          <p:cNvSpPr/>
          <p:nvPr/>
        </p:nvSpPr>
        <p:spPr>
          <a:xfrm>
            <a:off x="8915400" y="4361688"/>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295 fraud + 295 legitimate</a:t>
            </a:r>
            <a:endParaRPr lang="en-US" sz="1040" dirty="0"/>
          </a:p>
        </p:txBody>
      </p:sp>
      <p:sp>
        <p:nvSpPr>
          <p:cNvPr id="29" name="Shape 26"/>
          <p:cNvSpPr/>
          <p:nvPr/>
        </p:nvSpPr>
        <p:spPr>
          <a:xfrm>
            <a:off x="8741664" y="4800600"/>
            <a:ext cx="2798064" cy="1344168"/>
          </a:xfrm>
          <a:prstGeom prst="roundRect">
            <a:avLst>
              <a:gd name="adj" fmla="val 8844"/>
            </a:avLst>
          </a:prstGeom>
          <a:solidFill>
            <a:srgbClr val="282B3B"/>
          </a:solidFill>
          <a:ln w="8890">
            <a:solidFill>
              <a:srgbClr val="3D435C"/>
            </a:solidFill>
            <a:prstDash val="solid"/>
          </a:ln>
        </p:spPr>
      </p:sp>
      <p:sp>
        <p:nvSpPr>
          <p:cNvPr id="30" name="Text 27"/>
          <p:cNvSpPr/>
          <p:nvPr/>
        </p:nvSpPr>
        <p:spPr>
          <a:xfrm>
            <a:off x="8915400" y="4965192"/>
            <a:ext cx="2450592" cy="475488"/>
          </a:xfrm>
          <a:prstGeom prst="rect">
            <a:avLst/>
          </a:prstGeom>
          <a:noFill/>
          <a:ln/>
        </p:spPr>
        <p:txBody>
          <a:bodyPr wrap="square" lIns="0" tIns="0" rIns="0" bIns="0" rtlCol="0" anchor="ctr">
            <a:normAutofit/>
          </a:bodyPr>
          <a:lstStyle/>
          <a:p>
            <a:pPr indent="0" marL="0">
              <a:buNone/>
            </a:pPr>
            <a:r>
              <a:rPr lang="en-US" sz="2700" b="1" dirty="0">
                <a:solidFill>
                  <a:srgbClr val="E882AD"/>
                </a:solidFill>
                <a:latin typeface="Aptos" pitchFamily="34" charset="0"/>
                <a:ea typeface="Aptos" pitchFamily="34" charset="-122"/>
                <a:cs typeface="Aptos" pitchFamily="34" charset="-120"/>
              </a:rPr>
              <a:t>0.381</a:t>
            </a:r>
            <a:endParaRPr lang="en-US" sz="2700" dirty="0"/>
          </a:p>
        </p:txBody>
      </p:sp>
      <p:sp>
        <p:nvSpPr>
          <p:cNvPr id="31" name="Text 28"/>
          <p:cNvSpPr/>
          <p:nvPr/>
        </p:nvSpPr>
        <p:spPr>
          <a:xfrm>
            <a:off x="8915400" y="5504688"/>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Baseline A  •  noisy AUPRC</a:t>
            </a:r>
            <a:endParaRPr lang="en-US" sz="1170" dirty="0"/>
          </a:p>
        </p:txBody>
      </p:sp>
      <p:sp>
        <p:nvSpPr>
          <p:cNvPr id="32" name="Text 29"/>
          <p:cNvSpPr/>
          <p:nvPr/>
        </p:nvSpPr>
        <p:spPr>
          <a:xfrm>
            <a:off x="8915400" y="5833872"/>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Validation  •  p = 0.05  •  Exp. 2</a:t>
            </a:r>
            <a:endParaRPr lang="en-US" sz="10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91B24"/>
        </a:solidFill>
      </p:bgPr>
    </p:bg>
    <p:spTree>
      <p:nvGrpSpPr>
        <p:cNvPr id="1" name=""/>
        <p:cNvGrpSpPr/>
        <p:nvPr/>
      </p:nvGrpSpPr>
      <p:grpSpPr>
        <a:xfrm>
          <a:off x="0" y="0"/>
          <a:ext cx="0" cy="0"/>
          <a:chOff x="0" y="0"/>
          <a:chExt cx="0" cy="0"/>
        </a:xfrm>
      </p:grpSpPr>
      <p:sp>
        <p:nvSpPr>
          <p:cNvPr id="2" name="Shape 0"/>
          <p:cNvSpPr/>
          <p:nvPr/>
        </p:nvSpPr>
        <p:spPr>
          <a:xfrm rot="1800000">
            <a:off x="10881360" y="-411480"/>
            <a:ext cx="1463040" cy="1463040"/>
          </a:xfrm>
          <a:prstGeom prst="arc">
            <a:avLst/>
          </a:prstGeom>
          <a:solidFill>
            <a:srgbClr val="191B24">
              <a:alpha val="0"/>
            </a:srgbClr>
          </a:solidFill>
          <a:ln w="12700">
            <a:solidFill>
              <a:srgbClr val="788AE4">
                <a:alpha val="25000"/>
              </a:srgbClr>
            </a:solidFill>
            <a:prstDash val="solid"/>
          </a:ln>
        </p:spPr>
      </p:sp>
      <p:sp>
        <p:nvSpPr>
          <p:cNvPr id="3" name="Shape 1"/>
          <p:cNvSpPr/>
          <p:nvPr/>
        </p:nvSpPr>
        <p:spPr>
          <a:xfrm rot="3720000">
            <a:off x="11201400" y="-219456"/>
            <a:ext cx="1051560" cy="1051560"/>
          </a:xfrm>
          <a:prstGeom prst="arc">
            <a:avLst/>
          </a:prstGeom>
          <a:solidFill>
            <a:srgbClr val="191B24">
              <a:alpha val="0"/>
            </a:srgbClr>
          </a:solidFill>
          <a:ln w="12700">
            <a:solidFill>
              <a:srgbClr val="F1B75E">
                <a:alpha val="25000"/>
              </a:srgbClr>
            </a:solidFill>
            <a:prstDash val="solid"/>
          </a:ln>
        </p:spPr>
      </p:sp>
      <p:sp>
        <p:nvSpPr>
          <p:cNvPr id="4" name="Text 2"/>
          <p:cNvSpPr/>
          <p:nvPr/>
        </p:nvSpPr>
        <p:spPr>
          <a:xfrm>
            <a:off x="630936" y="201168"/>
            <a:ext cx="2148840" cy="201168"/>
          </a:xfrm>
          <a:prstGeom prst="rect">
            <a:avLst/>
          </a:prstGeom>
          <a:noFill/>
          <a:ln/>
        </p:spPr>
        <p:txBody>
          <a:bodyPr wrap="square" lIns="0" tIns="0" rIns="0" bIns="0" rtlCol="0" anchor="ctr">
            <a:normAutofit/>
          </a:bodyPr>
          <a:lstStyle/>
          <a:p>
            <a:pPr indent="0" marL="0">
              <a:buNone/>
            </a:pPr>
            <a:r>
              <a:rPr lang="en-US" sz="1020" b="1" spc="150" kern="0" dirty="0">
                <a:solidFill>
                  <a:srgbClr val="F1B75E"/>
                </a:solidFill>
                <a:latin typeface="Aptos" pitchFamily="34" charset="0"/>
                <a:ea typeface="Aptos" pitchFamily="34" charset="-122"/>
                <a:cs typeface="Aptos" pitchFamily="34" charset="-120"/>
              </a:rPr>
              <a:t>BREAQ 2026</a:t>
            </a:r>
            <a:endParaRPr lang="en-US" sz="1020" dirty="0"/>
          </a:p>
        </p:txBody>
      </p:sp>
      <p:sp>
        <p:nvSpPr>
          <p:cNvPr id="5" name="Text 3"/>
          <p:cNvSpPr/>
          <p:nvPr/>
        </p:nvSpPr>
        <p:spPr>
          <a:xfrm>
            <a:off x="2788920" y="210312"/>
            <a:ext cx="5394960" cy="192024"/>
          </a:xfrm>
          <a:prstGeom prst="rect">
            <a:avLst/>
          </a:prstGeom>
          <a:noFill/>
          <a:ln/>
        </p:spPr>
        <p:txBody>
          <a:bodyPr wrap="square" lIns="0" tIns="0" rIns="0" bIns="0" rtlCol="0" anchor="ctr">
            <a:normAutofit/>
          </a:bodyPr>
          <a:lstStyle/>
          <a:p>
            <a:pPr indent="0" marL="0">
              <a:buNone/>
            </a:pPr>
            <a:r>
              <a:rPr lang="en-US" sz="970" spc="110" kern="0" dirty="0">
                <a:solidFill>
                  <a:srgbClr val="8793B1"/>
                </a:solidFill>
                <a:latin typeface="Aptos" pitchFamily="34" charset="0"/>
                <a:ea typeface="Aptos" pitchFamily="34" charset="-122"/>
                <a:cs typeface="Aptos" pitchFamily="34" charset="-120"/>
              </a:rPr>
              <a:t>EXPERIMENTS 3–5</a:t>
            </a:r>
            <a:endParaRPr lang="en-US" sz="970" dirty="0"/>
          </a:p>
        </p:txBody>
      </p:sp>
      <p:sp>
        <p:nvSpPr>
          <p:cNvPr id="6" name="Text 4"/>
          <p:cNvSpPr/>
          <p:nvPr/>
        </p:nvSpPr>
        <p:spPr>
          <a:xfrm>
            <a:off x="11018520" y="155448"/>
            <a:ext cx="594360" cy="310896"/>
          </a:xfrm>
          <a:prstGeom prst="rect">
            <a:avLst/>
          </a:prstGeom>
          <a:noFill/>
          <a:ln/>
        </p:spPr>
        <p:txBody>
          <a:bodyPr wrap="square" lIns="0" tIns="0" rIns="0" bIns="0" rtlCol="0" anchor="ctr">
            <a:normAutofit/>
          </a:bodyPr>
          <a:lstStyle/>
          <a:p>
            <a:pPr algn="r" indent="0" marL="0">
              <a:buNone/>
            </a:pPr>
            <a:r>
              <a:rPr lang="en-US" sz="1500" b="1" dirty="0">
                <a:solidFill>
                  <a:srgbClr val="DCE0EE"/>
                </a:solidFill>
                <a:latin typeface="Aptos" pitchFamily="34" charset="0"/>
                <a:ea typeface="Aptos" pitchFamily="34" charset="-122"/>
                <a:cs typeface="Aptos" pitchFamily="34" charset="-120"/>
              </a:rPr>
              <a:t>02</a:t>
            </a:r>
            <a:endParaRPr lang="en-US" sz="1500" dirty="0"/>
          </a:p>
        </p:txBody>
      </p:sp>
      <p:sp>
        <p:nvSpPr>
          <p:cNvPr id="7" name="Shape 5"/>
          <p:cNvSpPr/>
          <p:nvPr/>
        </p:nvSpPr>
        <p:spPr>
          <a:xfrm>
            <a:off x="640080" y="557784"/>
            <a:ext cx="10927080" cy="0"/>
          </a:xfrm>
          <a:prstGeom prst="line">
            <a:avLst/>
          </a:prstGeom>
          <a:noFill/>
          <a:ln w="9525">
            <a:solidFill>
              <a:srgbClr val="3D435C"/>
            </a:solidFill>
            <a:prstDash val="solid"/>
          </a:ln>
        </p:spPr>
      </p:sp>
      <p:sp>
        <p:nvSpPr>
          <p:cNvPr id="8" name="Text 6"/>
          <p:cNvSpPr/>
          <p:nvPr/>
        </p:nvSpPr>
        <p:spPr>
          <a:xfrm>
            <a:off x="658368" y="722376"/>
            <a:ext cx="10652760" cy="493776"/>
          </a:xfrm>
          <a:prstGeom prst="rect">
            <a:avLst/>
          </a:prstGeom>
          <a:noFill/>
          <a:ln/>
        </p:spPr>
        <p:txBody>
          <a:bodyPr wrap="square" lIns="0" tIns="0" rIns="0" bIns="0" rtlCol="0" anchor="ctr">
            <a:normAutofit/>
          </a:bodyPr>
          <a:lstStyle/>
          <a:p>
            <a:pPr indent="0" marL="0">
              <a:buNone/>
            </a:pPr>
            <a:r>
              <a:rPr lang="en-US" sz="3200" b="1" dirty="0">
                <a:solidFill>
                  <a:srgbClr val="FAFAFC"/>
                </a:solidFill>
                <a:latin typeface="Aptos" pitchFamily="34" charset="0"/>
                <a:ea typeface="Aptos" pitchFamily="34" charset="-122"/>
                <a:cs typeface="Aptos" pitchFamily="34" charset="-120"/>
              </a:rPr>
              <a:t>Reducing Feature Map Depth</a:t>
            </a:r>
            <a:endParaRPr lang="en-US" sz="3200" dirty="0"/>
          </a:p>
        </p:txBody>
      </p:sp>
      <p:sp>
        <p:nvSpPr>
          <p:cNvPr id="9" name="Text 7"/>
          <p:cNvSpPr/>
          <p:nvPr/>
        </p:nvSpPr>
        <p:spPr>
          <a:xfrm>
            <a:off x="676656" y="1280160"/>
            <a:ext cx="10652760" cy="301752"/>
          </a:xfrm>
          <a:prstGeom prst="rect">
            <a:avLst/>
          </a:prstGeom>
          <a:noFill/>
          <a:ln/>
        </p:spPr>
        <p:txBody>
          <a:bodyPr wrap="square" lIns="0" tIns="0" rIns="0" bIns="0" rtlCol="0" anchor="ctr">
            <a:normAutofit/>
          </a:bodyPr>
          <a:lstStyle/>
          <a:p>
            <a:pPr indent="0" marL="0">
              <a:buNone/>
            </a:pPr>
            <a:r>
              <a:rPr lang="en-US" sz="1550" dirty="0">
                <a:solidFill>
                  <a:srgbClr val="B0B8CE"/>
                </a:solidFill>
                <a:latin typeface="Aptos" pitchFamily="34" charset="0"/>
                <a:ea typeface="Aptos" pitchFamily="34" charset="-122"/>
                <a:cs typeface="Aptos" pitchFamily="34" charset="-120"/>
              </a:rPr>
              <a:t>Fewer entangling gates improved test performance under strong depolarizing noise</a:t>
            </a:r>
            <a:endParaRPr lang="en-US" sz="1550" dirty="0"/>
          </a:p>
        </p:txBody>
      </p:sp>
      <p:sp>
        <p:nvSpPr>
          <p:cNvPr id="10" name="Shape 8"/>
          <p:cNvSpPr/>
          <p:nvPr/>
        </p:nvSpPr>
        <p:spPr>
          <a:xfrm>
            <a:off x="640080" y="6373368"/>
            <a:ext cx="10927080" cy="0"/>
          </a:xfrm>
          <a:prstGeom prst="line">
            <a:avLst/>
          </a:prstGeom>
          <a:noFill/>
          <a:ln w="8890">
            <a:solidFill>
              <a:srgbClr val="3D435C"/>
            </a:solidFill>
            <a:prstDash val="solid"/>
          </a:ln>
        </p:spPr>
      </p:sp>
      <p:sp>
        <p:nvSpPr>
          <p:cNvPr id="11" name="Text 9"/>
          <p:cNvSpPr/>
          <p:nvPr/>
        </p:nvSpPr>
        <p:spPr>
          <a:xfrm>
            <a:off x="658368" y="6446520"/>
            <a:ext cx="8961120" cy="201168"/>
          </a:xfrm>
          <a:prstGeom prst="rect">
            <a:avLst/>
          </a:prstGeom>
          <a:noFill/>
          <a:ln/>
        </p:spPr>
        <p:txBody>
          <a:bodyPr wrap="square" lIns="0" tIns="0" rIns="0" bIns="0" rtlCol="0" anchor="ctr">
            <a:normAutofit/>
          </a:bodyPr>
          <a:lstStyle/>
          <a:p>
            <a:pPr indent="0" marL="0">
              <a:buNone/>
            </a:pPr>
            <a:r>
              <a:rPr lang="en-US" sz="950" dirty="0">
                <a:solidFill>
                  <a:srgbClr val="8793B1"/>
                </a:solidFill>
                <a:latin typeface="Aptos" pitchFamily="34" charset="0"/>
                <a:ea typeface="Aptos" pitchFamily="34" charset="-122"/>
                <a:cs typeface="Aptos" pitchFamily="34" charset="-120"/>
              </a:rPr>
              <a:t>Fraud on a Quantum Budget  •  Exact density-matrix evaluation unless stated</a:t>
            </a:r>
            <a:endParaRPr lang="en-US" sz="950" dirty="0"/>
          </a:p>
        </p:txBody>
      </p:sp>
      <p:sp>
        <p:nvSpPr>
          <p:cNvPr id="12" name="Text 10"/>
          <p:cNvSpPr/>
          <p:nvPr/>
        </p:nvSpPr>
        <p:spPr>
          <a:xfrm>
            <a:off x="9738360" y="6446520"/>
            <a:ext cx="1783080" cy="201168"/>
          </a:xfrm>
          <a:prstGeom prst="rect">
            <a:avLst/>
          </a:prstGeom>
          <a:noFill/>
          <a:ln/>
        </p:spPr>
        <p:txBody>
          <a:bodyPr wrap="square" lIns="0" tIns="0" rIns="0" bIns="0" rtlCol="0" anchor="ctr">
            <a:normAutofit/>
          </a:bodyPr>
          <a:lstStyle/>
          <a:p>
            <a:pPr algn="r" indent="0" marL="0">
              <a:buNone/>
            </a:pPr>
            <a:r>
              <a:rPr lang="en-US" sz="960" dirty="0">
                <a:solidFill>
                  <a:srgbClr val="8793B1"/>
                </a:solidFill>
                <a:latin typeface="Aptos" pitchFamily="34" charset="0"/>
                <a:ea typeface="Aptos" pitchFamily="34" charset="-122"/>
                <a:cs typeface="Aptos" pitchFamily="34" charset="-120"/>
              </a:rPr>
              <a:t>BREAQ 2026   /   02</a:t>
            </a:r>
            <a:endParaRPr lang="en-US" sz="960" dirty="0"/>
          </a:p>
        </p:txBody>
      </p:sp>
      <p:sp>
        <p:nvSpPr>
          <p:cNvPr id="13" name="Shape 11"/>
          <p:cNvSpPr/>
          <p:nvPr/>
        </p:nvSpPr>
        <p:spPr>
          <a:xfrm>
            <a:off x="630936" y="1755648"/>
            <a:ext cx="7909560" cy="4343400"/>
          </a:xfrm>
          <a:prstGeom prst="roundRect">
            <a:avLst>
              <a:gd name="adj" fmla="val 2105"/>
            </a:avLst>
          </a:prstGeom>
          <a:solidFill>
            <a:srgbClr val="232635"/>
          </a:solidFill>
          <a:ln w="8890">
            <a:solidFill>
              <a:srgbClr val="3D435C"/>
            </a:solidFill>
            <a:prstDash val="solid"/>
          </a:ln>
        </p:spPr>
      </p:sp>
      <p:sp>
        <p:nvSpPr>
          <p:cNvPr id="14" name="Text 12"/>
          <p:cNvSpPr/>
          <p:nvPr/>
        </p:nvSpPr>
        <p:spPr>
          <a:xfrm>
            <a:off x="850392" y="1911096"/>
            <a:ext cx="7452360" cy="246888"/>
          </a:xfrm>
          <a:prstGeom prst="rect">
            <a:avLst/>
          </a:prstGeom>
          <a:noFill/>
          <a:ln/>
        </p:spPr>
        <p:txBody>
          <a:bodyPr wrap="square" lIns="0" tIns="0" rIns="0" bIns="0" rtlCol="0" anchor="ctr">
            <a:normAutofit/>
          </a:bodyPr>
          <a:lstStyle/>
          <a:p>
            <a:pPr indent="0" marL="0">
              <a:buNone/>
            </a:pPr>
            <a:r>
              <a:rPr lang="en-US" sz="1100" b="1" spc="100" kern="0" dirty="0">
                <a:solidFill>
                  <a:srgbClr val="DCE0EE"/>
                </a:solidFill>
                <a:latin typeface="Aptos" pitchFamily="34" charset="0"/>
                <a:ea typeface="Aptos" pitchFamily="34" charset="-122"/>
                <a:cs typeface="Aptos" pitchFamily="34" charset="-120"/>
              </a:rPr>
              <a:t>TEST AUPRC  •  P = 0.05  •  MEAN OVER 5 SEEDS</a:t>
            </a:r>
            <a:endParaRPr lang="en-US" sz="1100" dirty="0"/>
          </a:p>
        </p:txBody>
      </p:sp>
      <p:sp>
        <p:nvSpPr>
          <p:cNvPr id="15" name="Shape 13"/>
          <p:cNvSpPr/>
          <p:nvPr/>
        </p:nvSpPr>
        <p:spPr>
          <a:xfrm>
            <a:off x="822960" y="2258568"/>
            <a:ext cx="7525512" cy="0"/>
          </a:xfrm>
          <a:prstGeom prst="line">
            <a:avLst/>
          </a:prstGeom>
          <a:noFill/>
          <a:ln w="8255">
            <a:solidFill>
              <a:srgbClr val="3D435C"/>
            </a:solidFill>
            <a:prstDash val="solid"/>
          </a:ln>
        </p:spPr>
      </p:sp>
      <p:graphicFrame>
        <p:nvGraphicFramePr>
          <p:cNvPr id="16" name="Chart 0" descr=""/>
          <p:cNvGraphicFramePr/>
          <p:nvPr/>
        </p:nvGraphicFramePr>
        <p:xfrm>
          <a:off x="877824" y="2359152"/>
          <a:ext cx="7406640" cy="3364992"/>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8741664" y="1755648"/>
            <a:ext cx="2798064" cy="1234440"/>
          </a:xfrm>
          <a:prstGeom prst="roundRect">
            <a:avLst>
              <a:gd name="adj" fmla="val 9630"/>
            </a:avLst>
          </a:prstGeom>
          <a:solidFill>
            <a:srgbClr val="282B3B"/>
          </a:solidFill>
          <a:ln w="8890">
            <a:solidFill>
              <a:srgbClr val="3D435C"/>
            </a:solidFill>
            <a:prstDash val="solid"/>
          </a:ln>
        </p:spPr>
      </p:sp>
      <p:sp>
        <p:nvSpPr>
          <p:cNvPr id="18" name="Shape 15"/>
          <p:cNvSpPr/>
          <p:nvPr/>
        </p:nvSpPr>
        <p:spPr>
          <a:xfrm>
            <a:off x="8741664" y="1865376"/>
            <a:ext cx="40234" cy="1014984"/>
          </a:xfrm>
          <a:prstGeom prst="rect">
            <a:avLst/>
          </a:prstGeom>
          <a:solidFill>
            <a:srgbClr val="F1B75E"/>
          </a:solidFill>
          <a:ln w="12700">
            <a:solidFill>
              <a:srgbClr val="F1B75E">
                <a:alpha val="0"/>
              </a:srgbClr>
            </a:solidFill>
            <a:prstDash val="solid"/>
          </a:ln>
        </p:spPr>
      </p:sp>
      <p:sp>
        <p:nvSpPr>
          <p:cNvPr id="19" name="Text 16"/>
          <p:cNvSpPr/>
          <p:nvPr/>
        </p:nvSpPr>
        <p:spPr>
          <a:xfrm>
            <a:off x="8915400" y="1920240"/>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2 → 1</a:t>
            </a:r>
            <a:endParaRPr lang="en-US" sz="2700" dirty="0"/>
          </a:p>
        </p:txBody>
      </p:sp>
      <p:sp>
        <p:nvSpPr>
          <p:cNvPr id="20" name="Text 17"/>
          <p:cNvSpPr/>
          <p:nvPr/>
        </p:nvSpPr>
        <p:spPr>
          <a:xfrm>
            <a:off x="8915400" y="2459736"/>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Feature-map repetitions</a:t>
            </a:r>
            <a:endParaRPr lang="en-US" sz="1170" dirty="0"/>
          </a:p>
        </p:txBody>
      </p:sp>
      <p:sp>
        <p:nvSpPr>
          <p:cNvPr id="21" name="Text 18"/>
          <p:cNvSpPr/>
          <p:nvPr/>
        </p:nvSpPr>
        <p:spPr>
          <a:xfrm>
            <a:off x="8915400" y="2679192"/>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Ansatz kept unchanged</a:t>
            </a:r>
            <a:endParaRPr lang="en-US" sz="1040" dirty="0"/>
          </a:p>
        </p:txBody>
      </p:sp>
      <p:sp>
        <p:nvSpPr>
          <p:cNvPr id="22" name="Shape 19"/>
          <p:cNvSpPr/>
          <p:nvPr/>
        </p:nvSpPr>
        <p:spPr>
          <a:xfrm>
            <a:off x="8741664" y="3108960"/>
            <a:ext cx="2798064" cy="1234440"/>
          </a:xfrm>
          <a:prstGeom prst="roundRect">
            <a:avLst>
              <a:gd name="adj" fmla="val 9630"/>
            </a:avLst>
          </a:prstGeom>
          <a:solidFill>
            <a:srgbClr val="282B3B"/>
          </a:solidFill>
          <a:ln w="8890">
            <a:solidFill>
              <a:srgbClr val="3D435C"/>
            </a:solidFill>
            <a:prstDash val="solid"/>
          </a:ln>
        </p:spPr>
      </p:sp>
      <p:sp>
        <p:nvSpPr>
          <p:cNvPr id="23" name="Text 20"/>
          <p:cNvSpPr/>
          <p:nvPr/>
        </p:nvSpPr>
        <p:spPr>
          <a:xfrm>
            <a:off x="8915400" y="3273552"/>
            <a:ext cx="2450592" cy="475488"/>
          </a:xfrm>
          <a:prstGeom prst="rect">
            <a:avLst/>
          </a:prstGeom>
          <a:noFill/>
          <a:ln/>
        </p:spPr>
        <p:txBody>
          <a:bodyPr wrap="square" lIns="0" tIns="0" rIns="0" bIns="0" rtlCol="0" anchor="ctr">
            <a:normAutofit/>
          </a:bodyPr>
          <a:lstStyle/>
          <a:p>
            <a:pPr indent="0" marL="0">
              <a:buNone/>
            </a:pPr>
            <a:r>
              <a:rPr lang="en-US" sz="2600" b="1" dirty="0">
                <a:solidFill>
                  <a:srgbClr val="FAFAFC"/>
                </a:solidFill>
                <a:latin typeface="Aptos" pitchFamily="34" charset="0"/>
                <a:ea typeface="Aptos" pitchFamily="34" charset="-122"/>
                <a:cs typeface="Aptos" pitchFamily="34" charset="-120"/>
              </a:rPr>
              <a:t>33 → 21</a:t>
            </a:r>
            <a:endParaRPr lang="en-US" sz="2600" dirty="0"/>
          </a:p>
        </p:txBody>
      </p:sp>
      <p:sp>
        <p:nvSpPr>
          <p:cNvPr id="24" name="Text 21"/>
          <p:cNvSpPr/>
          <p:nvPr/>
        </p:nvSpPr>
        <p:spPr>
          <a:xfrm>
            <a:off x="8915400" y="3813048"/>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CNOT gates</a:t>
            </a:r>
            <a:endParaRPr lang="en-US" sz="1170" dirty="0"/>
          </a:p>
        </p:txBody>
      </p:sp>
      <p:sp>
        <p:nvSpPr>
          <p:cNvPr id="25" name="Text 22"/>
          <p:cNvSpPr/>
          <p:nvPr/>
        </p:nvSpPr>
        <p:spPr>
          <a:xfrm>
            <a:off x="8915400" y="4032504"/>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126 → 88 noise locations</a:t>
            </a:r>
            <a:endParaRPr lang="en-US" sz="1040" dirty="0"/>
          </a:p>
        </p:txBody>
      </p:sp>
      <p:sp>
        <p:nvSpPr>
          <p:cNvPr id="26" name="Shape 23"/>
          <p:cNvSpPr/>
          <p:nvPr/>
        </p:nvSpPr>
        <p:spPr>
          <a:xfrm>
            <a:off x="8741664" y="4471416"/>
            <a:ext cx="2798064" cy="1636776"/>
          </a:xfrm>
          <a:prstGeom prst="roundRect">
            <a:avLst>
              <a:gd name="adj" fmla="val 7263"/>
            </a:avLst>
          </a:prstGeom>
          <a:solidFill>
            <a:srgbClr val="282B3B"/>
          </a:solidFill>
          <a:ln w="8890">
            <a:solidFill>
              <a:srgbClr val="3D435C"/>
            </a:solidFill>
            <a:prstDash val="solid"/>
          </a:ln>
        </p:spPr>
      </p:sp>
      <p:sp>
        <p:nvSpPr>
          <p:cNvPr id="27" name="Text 24"/>
          <p:cNvSpPr/>
          <p:nvPr/>
        </p:nvSpPr>
        <p:spPr>
          <a:xfrm>
            <a:off x="8915400" y="4636008"/>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+0.212</a:t>
            </a:r>
            <a:endParaRPr lang="en-US" sz="2700" dirty="0"/>
          </a:p>
        </p:txBody>
      </p:sp>
      <p:sp>
        <p:nvSpPr>
          <p:cNvPr id="28" name="Text 25"/>
          <p:cNvSpPr/>
          <p:nvPr/>
        </p:nvSpPr>
        <p:spPr>
          <a:xfrm>
            <a:off x="8915400" y="5175504"/>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Test AUPRC vs baseline</a:t>
            </a:r>
            <a:endParaRPr lang="en-US" sz="1170" dirty="0"/>
          </a:p>
        </p:txBody>
      </p:sp>
      <p:sp>
        <p:nvSpPr>
          <p:cNvPr id="29" name="Text 26"/>
          <p:cNvSpPr/>
          <p:nvPr/>
        </p:nvSpPr>
        <p:spPr>
          <a:xfrm>
            <a:off x="8915400" y="5797296"/>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LR remains a strong classical reference</a:t>
            </a:r>
            <a:endParaRPr lang="en-US" sz="10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91B24"/>
        </a:solidFill>
      </p:bgPr>
    </p:bg>
    <p:spTree>
      <p:nvGrpSpPr>
        <p:cNvPr id="1" name=""/>
        <p:cNvGrpSpPr/>
        <p:nvPr/>
      </p:nvGrpSpPr>
      <p:grpSpPr>
        <a:xfrm>
          <a:off x="0" y="0"/>
          <a:ext cx="0" cy="0"/>
          <a:chOff x="0" y="0"/>
          <a:chExt cx="0" cy="0"/>
        </a:xfrm>
      </p:grpSpPr>
      <p:sp>
        <p:nvSpPr>
          <p:cNvPr id="2" name="Shape 0"/>
          <p:cNvSpPr/>
          <p:nvPr/>
        </p:nvSpPr>
        <p:spPr>
          <a:xfrm rot="1800000">
            <a:off x="10881360" y="-411480"/>
            <a:ext cx="1463040" cy="1463040"/>
          </a:xfrm>
          <a:prstGeom prst="arc">
            <a:avLst/>
          </a:prstGeom>
          <a:solidFill>
            <a:srgbClr val="191B24">
              <a:alpha val="0"/>
            </a:srgbClr>
          </a:solidFill>
          <a:ln w="12700">
            <a:solidFill>
              <a:srgbClr val="788AE4">
                <a:alpha val="25000"/>
              </a:srgbClr>
            </a:solidFill>
            <a:prstDash val="solid"/>
          </a:ln>
        </p:spPr>
      </p:sp>
      <p:sp>
        <p:nvSpPr>
          <p:cNvPr id="3" name="Shape 1"/>
          <p:cNvSpPr/>
          <p:nvPr/>
        </p:nvSpPr>
        <p:spPr>
          <a:xfrm rot="3720000">
            <a:off x="11201400" y="-219456"/>
            <a:ext cx="1051560" cy="1051560"/>
          </a:xfrm>
          <a:prstGeom prst="arc">
            <a:avLst/>
          </a:prstGeom>
          <a:solidFill>
            <a:srgbClr val="191B24">
              <a:alpha val="0"/>
            </a:srgbClr>
          </a:solidFill>
          <a:ln w="12700">
            <a:solidFill>
              <a:srgbClr val="F1B75E">
                <a:alpha val="25000"/>
              </a:srgbClr>
            </a:solidFill>
            <a:prstDash val="solid"/>
          </a:ln>
        </p:spPr>
      </p:sp>
      <p:sp>
        <p:nvSpPr>
          <p:cNvPr id="4" name="Text 2"/>
          <p:cNvSpPr/>
          <p:nvPr/>
        </p:nvSpPr>
        <p:spPr>
          <a:xfrm>
            <a:off x="630936" y="201168"/>
            <a:ext cx="2148840" cy="201168"/>
          </a:xfrm>
          <a:prstGeom prst="rect">
            <a:avLst/>
          </a:prstGeom>
          <a:noFill/>
          <a:ln/>
        </p:spPr>
        <p:txBody>
          <a:bodyPr wrap="square" lIns="0" tIns="0" rIns="0" bIns="0" rtlCol="0" anchor="ctr">
            <a:normAutofit/>
          </a:bodyPr>
          <a:lstStyle/>
          <a:p>
            <a:pPr indent="0" marL="0">
              <a:buNone/>
            </a:pPr>
            <a:r>
              <a:rPr lang="en-US" sz="1020" b="1" spc="150" kern="0" dirty="0">
                <a:solidFill>
                  <a:srgbClr val="F1B75E"/>
                </a:solidFill>
                <a:latin typeface="Aptos" pitchFamily="34" charset="0"/>
                <a:ea typeface="Aptos" pitchFamily="34" charset="-122"/>
                <a:cs typeface="Aptos" pitchFamily="34" charset="-120"/>
              </a:rPr>
              <a:t>BREAQ 2026</a:t>
            </a:r>
            <a:endParaRPr lang="en-US" sz="1020" dirty="0"/>
          </a:p>
        </p:txBody>
      </p:sp>
      <p:sp>
        <p:nvSpPr>
          <p:cNvPr id="5" name="Text 3"/>
          <p:cNvSpPr/>
          <p:nvPr/>
        </p:nvSpPr>
        <p:spPr>
          <a:xfrm>
            <a:off x="2788920" y="210312"/>
            <a:ext cx="5394960" cy="192024"/>
          </a:xfrm>
          <a:prstGeom prst="rect">
            <a:avLst/>
          </a:prstGeom>
          <a:noFill/>
          <a:ln/>
        </p:spPr>
        <p:txBody>
          <a:bodyPr wrap="square" lIns="0" tIns="0" rIns="0" bIns="0" rtlCol="0" anchor="ctr">
            <a:normAutofit/>
          </a:bodyPr>
          <a:lstStyle/>
          <a:p>
            <a:pPr indent="0" marL="0">
              <a:buNone/>
            </a:pPr>
            <a:r>
              <a:rPr lang="en-US" sz="970" spc="110" kern="0" dirty="0">
                <a:solidFill>
                  <a:srgbClr val="8793B1"/>
                </a:solidFill>
                <a:latin typeface="Aptos" pitchFamily="34" charset="0"/>
                <a:ea typeface="Aptos" pitchFamily="34" charset="-122"/>
                <a:cs typeface="Aptos" pitchFamily="34" charset="-120"/>
              </a:rPr>
              <a:t>EXPERIMENT 9</a:t>
            </a:r>
            <a:endParaRPr lang="en-US" sz="970" dirty="0"/>
          </a:p>
        </p:txBody>
      </p:sp>
      <p:sp>
        <p:nvSpPr>
          <p:cNvPr id="6" name="Text 4"/>
          <p:cNvSpPr/>
          <p:nvPr/>
        </p:nvSpPr>
        <p:spPr>
          <a:xfrm>
            <a:off x="11018520" y="155448"/>
            <a:ext cx="594360" cy="310896"/>
          </a:xfrm>
          <a:prstGeom prst="rect">
            <a:avLst/>
          </a:prstGeom>
          <a:noFill/>
          <a:ln/>
        </p:spPr>
        <p:txBody>
          <a:bodyPr wrap="square" lIns="0" tIns="0" rIns="0" bIns="0" rtlCol="0" anchor="ctr">
            <a:normAutofit/>
          </a:bodyPr>
          <a:lstStyle/>
          <a:p>
            <a:pPr algn="r" indent="0" marL="0">
              <a:buNone/>
            </a:pPr>
            <a:r>
              <a:rPr lang="en-US" sz="1500" b="1" dirty="0">
                <a:solidFill>
                  <a:srgbClr val="DCE0EE"/>
                </a:solidFill>
                <a:latin typeface="Aptos" pitchFamily="34" charset="0"/>
                <a:ea typeface="Aptos" pitchFamily="34" charset="-122"/>
                <a:cs typeface="Aptos" pitchFamily="34" charset="-120"/>
              </a:rPr>
              <a:t>03</a:t>
            </a:r>
            <a:endParaRPr lang="en-US" sz="1500" dirty="0"/>
          </a:p>
        </p:txBody>
      </p:sp>
      <p:sp>
        <p:nvSpPr>
          <p:cNvPr id="7" name="Shape 5"/>
          <p:cNvSpPr/>
          <p:nvPr/>
        </p:nvSpPr>
        <p:spPr>
          <a:xfrm>
            <a:off x="640080" y="557784"/>
            <a:ext cx="10927080" cy="0"/>
          </a:xfrm>
          <a:prstGeom prst="line">
            <a:avLst/>
          </a:prstGeom>
          <a:noFill/>
          <a:ln w="9525">
            <a:solidFill>
              <a:srgbClr val="3D435C"/>
            </a:solidFill>
            <a:prstDash val="solid"/>
          </a:ln>
        </p:spPr>
      </p:sp>
      <p:sp>
        <p:nvSpPr>
          <p:cNvPr id="8" name="Text 6"/>
          <p:cNvSpPr/>
          <p:nvPr/>
        </p:nvSpPr>
        <p:spPr>
          <a:xfrm>
            <a:off x="658368" y="722376"/>
            <a:ext cx="10652760" cy="493776"/>
          </a:xfrm>
          <a:prstGeom prst="rect">
            <a:avLst/>
          </a:prstGeom>
          <a:noFill/>
          <a:ln/>
        </p:spPr>
        <p:txBody>
          <a:bodyPr wrap="square" lIns="0" tIns="0" rIns="0" bIns="0" rtlCol="0" anchor="ctr">
            <a:normAutofit/>
          </a:bodyPr>
          <a:lstStyle/>
          <a:p>
            <a:pPr indent="0" marL="0">
              <a:buNone/>
            </a:pPr>
            <a:r>
              <a:rPr lang="en-US" sz="3200" b="1" dirty="0">
                <a:solidFill>
                  <a:srgbClr val="FAFAFC"/>
                </a:solidFill>
                <a:latin typeface="Aptos" pitchFamily="34" charset="0"/>
                <a:ea typeface="Aptos" pitchFamily="34" charset="-122"/>
                <a:cs typeface="Aptos" pitchFamily="34" charset="-120"/>
              </a:rPr>
              <a:t>Sparse ZZ: FULL vs LINEAR vs STAR</a:t>
            </a:r>
            <a:endParaRPr lang="en-US" sz="3200" dirty="0"/>
          </a:p>
        </p:txBody>
      </p:sp>
      <p:sp>
        <p:nvSpPr>
          <p:cNvPr id="9" name="Text 7"/>
          <p:cNvSpPr/>
          <p:nvPr/>
        </p:nvSpPr>
        <p:spPr>
          <a:xfrm>
            <a:off x="676656" y="1280160"/>
            <a:ext cx="10652760" cy="301752"/>
          </a:xfrm>
          <a:prstGeom prst="rect">
            <a:avLst/>
          </a:prstGeom>
          <a:noFill/>
          <a:ln/>
        </p:spPr>
        <p:txBody>
          <a:bodyPr wrap="square" lIns="0" tIns="0" rIns="0" bIns="0" rtlCol="0" anchor="ctr">
            <a:normAutofit/>
          </a:bodyPr>
          <a:lstStyle/>
          <a:p>
            <a:pPr indent="0" marL="0">
              <a:buNone/>
            </a:pPr>
            <a:r>
              <a:rPr lang="en-US" sz="1550" dirty="0">
                <a:solidFill>
                  <a:srgbClr val="B0B8CE"/>
                </a:solidFill>
                <a:latin typeface="Aptos" pitchFamily="34" charset="0"/>
                <a:ea typeface="Aptos" pitchFamily="34" charset="-122"/>
                <a:cs typeface="Aptos" pitchFamily="34" charset="-120"/>
              </a:rPr>
              <a:t>Topology changes which interactions we keep — not just how many gates we use</a:t>
            </a:r>
            <a:endParaRPr lang="en-US" sz="1550" dirty="0"/>
          </a:p>
        </p:txBody>
      </p:sp>
      <p:sp>
        <p:nvSpPr>
          <p:cNvPr id="10" name="Shape 8"/>
          <p:cNvSpPr/>
          <p:nvPr/>
        </p:nvSpPr>
        <p:spPr>
          <a:xfrm>
            <a:off x="640080" y="6373368"/>
            <a:ext cx="10927080" cy="0"/>
          </a:xfrm>
          <a:prstGeom prst="line">
            <a:avLst/>
          </a:prstGeom>
          <a:noFill/>
          <a:ln w="8890">
            <a:solidFill>
              <a:srgbClr val="3D435C"/>
            </a:solidFill>
            <a:prstDash val="solid"/>
          </a:ln>
        </p:spPr>
      </p:sp>
      <p:sp>
        <p:nvSpPr>
          <p:cNvPr id="11" name="Text 9"/>
          <p:cNvSpPr/>
          <p:nvPr/>
        </p:nvSpPr>
        <p:spPr>
          <a:xfrm>
            <a:off x="658368" y="6446520"/>
            <a:ext cx="8961120" cy="201168"/>
          </a:xfrm>
          <a:prstGeom prst="rect">
            <a:avLst/>
          </a:prstGeom>
          <a:noFill/>
          <a:ln/>
        </p:spPr>
        <p:txBody>
          <a:bodyPr wrap="square" lIns="0" tIns="0" rIns="0" bIns="0" rtlCol="0" anchor="ctr">
            <a:normAutofit/>
          </a:bodyPr>
          <a:lstStyle/>
          <a:p>
            <a:pPr indent="0" marL="0">
              <a:buNone/>
            </a:pPr>
            <a:r>
              <a:rPr lang="en-US" sz="950" dirty="0">
                <a:solidFill>
                  <a:srgbClr val="8793B1"/>
                </a:solidFill>
                <a:latin typeface="Aptos" pitchFamily="34" charset="0"/>
                <a:ea typeface="Aptos" pitchFamily="34" charset="-122"/>
                <a:cs typeface="Aptos" pitchFamily="34" charset="-120"/>
              </a:rPr>
              <a:t>Fraud on a Quantum Budget  •  Exact density-matrix evaluation unless stated</a:t>
            </a:r>
            <a:endParaRPr lang="en-US" sz="950" dirty="0"/>
          </a:p>
        </p:txBody>
      </p:sp>
      <p:sp>
        <p:nvSpPr>
          <p:cNvPr id="12" name="Text 10"/>
          <p:cNvSpPr/>
          <p:nvPr/>
        </p:nvSpPr>
        <p:spPr>
          <a:xfrm>
            <a:off x="9738360" y="6446520"/>
            <a:ext cx="1783080" cy="201168"/>
          </a:xfrm>
          <a:prstGeom prst="rect">
            <a:avLst/>
          </a:prstGeom>
          <a:noFill/>
          <a:ln/>
        </p:spPr>
        <p:txBody>
          <a:bodyPr wrap="square" lIns="0" tIns="0" rIns="0" bIns="0" rtlCol="0" anchor="ctr">
            <a:normAutofit/>
          </a:bodyPr>
          <a:lstStyle/>
          <a:p>
            <a:pPr algn="r" indent="0" marL="0">
              <a:buNone/>
            </a:pPr>
            <a:r>
              <a:rPr lang="en-US" sz="960" dirty="0">
                <a:solidFill>
                  <a:srgbClr val="8793B1"/>
                </a:solidFill>
                <a:latin typeface="Aptos" pitchFamily="34" charset="0"/>
                <a:ea typeface="Aptos" pitchFamily="34" charset="-122"/>
                <a:cs typeface="Aptos" pitchFamily="34" charset="-120"/>
              </a:rPr>
              <a:t>BREAQ 2026   /   03</a:t>
            </a:r>
            <a:endParaRPr lang="en-US" sz="960" dirty="0"/>
          </a:p>
        </p:txBody>
      </p:sp>
      <p:sp>
        <p:nvSpPr>
          <p:cNvPr id="13" name="Shape 11"/>
          <p:cNvSpPr/>
          <p:nvPr/>
        </p:nvSpPr>
        <p:spPr>
          <a:xfrm>
            <a:off x="630936" y="1755648"/>
            <a:ext cx="7909560" cy="4343400"/>
          </a:xfrm>
          <a:prstGeom prst="roundRect">
            <a:avLst>
              <a:gd name="adj" fmla="val 2105"/>
            </a:avLst>
          </a:prstGeom>
          <a:solidFill>
            <a:srgbClr val="232635"/>
          </a:solidFill>
          <a:ln w="8890">
            <a:solidFill>
              <a:srgbClr val="3D435C"/>
            </a:solidFill>
            <a:prstDash val="solid"/>
          </a:ln>
        </p:spPr>
      </p:sp>
      <p:sp>
        <p:nvSpPr>
          <p:cNvPr id="14" name="Text 12"/>
          <p:cNvSpPr/>
          <p:nvPr/>
        </p:nvSpPr>
        <p:spPr>
          <a:xfrm>
            <a:off x="850392" y="1911096"/>
            <a:ext cx="7452360" cy="246888"/>
          </a:xfrm>
          <a:prstGeom prst="rect">
            <a:avLst/>
          </a:prstGeom>
          <a:noFill/>
          <a:ln/>
        </p:spPr>
        <p:txBody>
          <a:bodyPr wrap="square" lIns="0" tIns="0" rIns="0" bIns="0" rtlCol="0" anchor="ctr">
            <a:normAutofit/>
          </a:bodyPr>
          <a:lstStyle/>
          <a:p>
            <a:pPr indent="0" marL="0">
              <a:buNone/>
            </a:pPr>
            <a:r>
              <a:rPr lang="en-US" sz="1100" b="1" spc="100" kern="0" dirty="0">
                <a:solidFill>
                  <a:srgbClr val="DCE0EE"/>
                </a:solidFill>
                <a:latin typeface="Aptos" pitchFamily="34" charset="0"/>
                <a:ea typeface="Aptos" pitchFamily="34" charset="-122"/>
                <a:cs typeface="Aptos" pitchFamily="34" charset="-120"/>
              </a:rPr>
              <a:t>VALIDATION AUPRC  •  P = 0.05  •  MEAN OVER 5 SEEDS</a:t>
            </a:r>
            <a:endParaRPr lang="en-US" sz="1100" dirty="0"/>
          </a:p>
        </p:txBody>
      </p:sp>
      <p:sp>
        <p:nvSpPr>
          <p:cNvPr id="15" name="Shape 13"/>
          <p:cNvSpPr/>
          <p:nvPr/>
        </p:nvSpPr>
        <p:spPr>
          <a:xfrm>
            <a:off x="822960" y="2258568"/>
            <a:ext cx="7525512" cy="0"/>
          </a:xfrm>
          <a:prstGeom prst="line">
            <a:avLst/>
          </a:prstGeom>
          <a:noFill/>
          <a:ln w="8255">
            <a:solidFill>
              <a:srgbClr val="3D435C"/>
            </a:solidFill>
            <a:prstDash val="solid"/>
          </a:ln>
        </p:spPr>
      </p:sp>
      <p:graphicFrame>
        <p:nvGraphicFramePr>
          <p:cNvPr id="16" name="Chart 0" descr=""/>
          <p:cNvGraphicFramePr/>
          <p:nvPr/>
        </p:nvGraphicFramePr>
        <p:xfrm>
          <a:off x="877824" y="2359152"/>
          <a:ext cx="7406640" cy="3346704"/>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8741664" y="1755648"/>
            <a:ext cx="2798064" cy="1234440"/>
          </a:xfrm>
          <a:prstGeom prst="roundRect">
            <a:avLst>
              <a:gd name="adj" fmla="val 9630"/>
            </a:avLst>
          </a:prstGeom>
          <a:solidFill>
            <a:srgbClr val="282B3B"/>
          </a:solidFill>
          <a:ln w="8890">
            <a:solidFill>
              <a:srgbClr val="3D435C"/>
            </a:solidFill>
            <a:prstDash val="solid"/>
          </a:ln>
        </p:spPr>
      </p:sp>
      <p:sp>
        <p:nvSpPr>
          <p:cNvPr id="18" name="Shape 15"/>
          <p:cNvSpPr/>
          <p:nvPr/>
        </p:nvSpPr>
        <p:spPr>
          <a:xfrm>
            <a:off x="8741664" y="1865376"/>
            <a:ext cx="40234" cy="1014984"/>
          </a:xfrm>
          <a:prstGeom prst="rect">
            <a:avLst/>
          </a:prstGeom>
          <a:solidFill>
            <a:srgbClr val="F1B75E"/>
          </a:solidFill>
          <a:ln w="12700">
            <a:solidFill>
              <a:srgbClr val="F1B75E">
                <a:alpha val="0"/>
              </a:srgbClr>
            </a:solidFill>
            <a:prstDash val="solid"/>
          </a:ln>
        </p:spPr>
      </p:sp>
      <p:sp>
        <p:nvSpPr>
          <p:cNvPr id="19" name="Text 16"/>
          <p:cNvSpPr/>
          <p:nvPr/>
        </p:nvSpPr>
        <p:spPr>
          <a:xfrm>
            <a:off x="8915400" y="1920240"/>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0.622</a:t>
            </a:r>
            <a:endParaRPr lang="en-US" sz="2700" dirty="0"/>
          </a:p>
        </p:txBody>
      </p:sp>
      <p:sp>
        <p:nvSpPr>
          <p:cNvPr id="20" name="Text 17"/>
          <p:cNvSpPr/>
          <p:nvPr/>
        </p:nvSpPr>
        <p:spPr>
          <a:xfrm>
            <a:off x="8915400" y="2459736"/>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STAR AUPRC</a:t>
            </a:r>
            <a:endParaRPr lang="en-US" sz="1170" dirty="0"/>
          </a:p>
        </p:txBody>
      </p:sp>
      <p:sp>
        <p:nvSpPr>
          <p:cNvPr id="21" name="Text 18"/>
          <p:cNvSpPr/>
          <p:nvPr/>
        </p:nvSpPr>
        <p:spPr>
          <a:xfrm>
            <a:off x="8915400" y="2679192"/>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vs FULL: 0.587  |  LINEAR: 0.542</a:t>
            </a:r>
            <a:endParaRPr lang="en-US" sz="1040" dirty="0"/>
          </a:p>
        </p:txBody>
      </p:sp>
      <p:sp>
        <p:nvSpPr>
          <p:cNvPr id="22" name="Shape 19"/>
          <p:cNvSpPr/>
          <p:nvPr/>
        </p:nvSpPr>
        <p:spPr>
          <a:xfrm>
            <a:off x="8741664" y="3108960"/>
            <a:ext cx="2798064" cy="1234440"/>
          </a:xfrm>
          <a:prstGeom prst="roundRect">
            <a:avLst>
              <a:gd name="adj" fmla="val 9630"/>
            </a:avLst>
          </a:prstGeom>
          <a:solidFill>
            <a:srgbClr val="282B3B"/>
          </a:solidFill>
          <a:ln w="8890">
            <a:solidFill>
              <a:srgbClr val="3D435C"/>
            </a:solidFill>
            <a:prstDash val="solid"/>
          </a:ln>
        </p:spPr>
      </p:sp>
      <p:sp>
        <p:nvSpPr>
          <p:cNvPr id="23" name="Text 20"/>
          <p:cNvSpPr/>
          <p:nvPr/>
        </p:nvSpPr>
        <p:spPr>
          <a:xfrm>
            <a:off x="8915400" y="3273552"/>
            <a:ext cx="2450592" cy="475488"/>
          </a:xfrm>
          <a:prstGeom prst="rect">
            <a:avLst/>
          </a:prstGeom>
          <a:noFill/>
          <a:ln/>
        </p:spPr>
        <p:txBody>
          <a:bodyPr wrap="square" lIns="0" tIns="0" rIns="0" bIns="0" rtlCol="0" anchor="ctr">
            <a:normAutofit/>
          </a:bodyPr>
          <a:lstStyle/>
          <a:p>
            <a:pPr indent="0" marL="0">
              <a:buNone/>
            </a:pPr>
            <a:r>
              <a:rPr lang="en-US" sz="2700" b="1" dirty="0">
                <a:solidFill>
                  <a:srgbClr val="FAFAFC"/>
                </a:solidFill>
                <a:latin typeface="Aptos" pitchFamily="34" charset="0"/>
                <a:ea typeface="Aptos" pitchFamily="34" charset="-122"/>
                <a:cs typeface="Aptos" pitchFamily="34" charset="-120"/>
              </a:rPr>
              <a:t>67.7%</a:t>
            </a:r>
            <a:endParaRPr lang="en-US" sz="2700" dirty="0"/>
          </a:p>
        </p:txBody>
      </p:sp>
      <p:sp>
        <p:nvSpPr>
          <p:cNvPr id="24" name="Text 21"/>
          <p:cNvSpPr/>
          <p:nvPr/>
        </p:nvSpPr>
        <p:spPr>
          <a:xfrm>
            <a:off x="8915400" y="3813048"/>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Recall at max-F1 threshold</a:t>
            </a:r>
            <a:endParaRPr lang="en-US" sz="1170" dirty="0"/>
          </a:p>
        </p:txBody>
      </p:sp>
      <p:sp>
        <p:nvSpPr>
          <p:cNvPr id="25" name="Text 22"/>
          <p:cNvSpPr/>
          <p:nvPr/>
        </p:nvSpPr>
        <p:spPr>
          <a:xfrm>
            <a:off x="8915400" y="4032504"/>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99 fraud cases in validation</a:t>
            </a:r>
            <a:endParaRPr lang="en-US" sz="1040" dirty="0"/>
          </a:p>
        </p:txBody>
      </p:sp>
      <p:sp>
        <p:nvSpPr>
          <p:cNvPr id="26" name="Shape 23"/>
          <p:cNvSpPr/>
          <p:nvPr/>
        </p:nvSpPr>
        <p:spPr>
          <a:xfrm>
            <a:off x="8741664" y="4471416"/>
            <a:ext cx="2798064" cy="1636776"/>
          </a:xfrm>
          <a:prstGeom prst="roundRect">
            <a:avLst>
              <a:gd name="adj" fmla="val 7263"/>
            </a:avLst>
          </a:prstGeom>
          <a:solidFill>
            <a:srgbClr val="282B3B"/>
          </a:solidFill>
          <a:ln w="8890">
            <a:solidFill>
              <a:srgbClr val="3D435C"/>
            </a:solidFill>
            <a:prstDash val="solid"/>
          </a:ln>
        </p:spPr>
      </p:sp>
      <p:sp>
        <p:nvSpPr>
          <p:cNvPr id="27" name="Text 24"/>
          <p:cNvSpPr/>
          <p:nvPr/>
        </p:nvSpPr>
        <p:spPr>
          <a:xfrm>
            <a:off x="8915400" y="4636008"/>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15</a:t>
            </a:r>
            <a:endParaRPr lang="en-US" sz="2700" dirty="0"/>
          </a:p>
        </p:txBody>
      </p:sp>
      <p:sp>
        <p:nvSpPr>
          <p:cNvPr id="28" name="Text 25"/>
          <p:cNvSpPr/>
          <p:nvPr/>
        </p:nvSpPr>
        <p:spPr>
          <a:xfrm>
            <a:off x="8915400" y="5175504"/>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CNOT gates  •  STAR</a:t>
            </a:r>
            <a:endParaRPr lang="en-US" sz="1170" dirty="0"/>
          </a:p>
        </p:txBody>
      </p:sp>
      <p:sp>
        <p:nvSpPr>
          <p:cNvPr id="29" name="Text 26"/>
          <p:cNvSpPr/>
          <p:nvPr/>
        </p:nvSpPr>
        <p:spPr>
          <a:xfrm>
            <a:off x="8915400" y="5797296"/>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73 noise sites  |  16.4 mean false positives</a:t>
            </a:r>
            <a:endParaRPr lang="en-US" sz="10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1B24"/>
        </a:solidFill>
      </p:bgPr>
    </p:bg>
    <p:spTree>
      <p:nvGrpSpPr>
        <p:cNvPr id="1" name=""/>
        <p:cNvGrpSpPr/>
        <p:nvPr/>
      </p:nvGrpSpPr>
      <p:grpSpPr>
        <a:xfrm>
          <a:off x="0" y="0"/>
          <a:ext cx="0" cy="0"/>
          <a:chOff x="0" y="0"/>
          <a:chExt cx="0" cy="0"/>
        </a:xfrm>
      </p:grpSpPr>
      <p:sp>
        <p:nvSpPr>
          <p:cNvPr id="2" name="Shape 0"/>
          <p:cNvSpPr/>
          <p:nvPr/>
        </p:nvSpPr>
        <p:spPr>
          <a:xfrm rot="1800000">
            <a:off x="10881360" y="-411480"/>
            <a:ext cx="1463040" cy="1463040"/>
          </a:xfrm>
          <a:prstGeom prst="arc">
            <a:avLst/>
          </a:prstGeom>
          <a:solidFill>
            <a:srgbClr val="191B24">
              <a:alpha val="0"/>
            </a:srgbClr>
          </a:solidFill>
          <a:ln w="12700">
            <a:solidFill>
              <a:srgbClr val="788AE4">
                <a:alpha val="25000"/>
              </a:srgbClr>
            </a:solidFill>
            <a:prstDash val="solid"/>
          </a:ln>
        </p:spPr>
      </p:sp>
      <p:sp>
        <p:nvSpPr>
          <p:cNvPr id="3" name="Shape 1"/>
          <p:cNvSpPr/>
          <p:nvPr/>
        </p:nvSpPr>
        <p:spPr>
          <a:xfrm rot="3720000">
            <a:off x="11201400" y="-219456"/>
            <a:ext cx="1051560" cy="1051560"/>
          </a:xfrm>
          <a:prstGeom prst="arc">
            <a:avLst/>
          </a:prstGeom>
          <a:solidFill>
            <a:srgbClr val="191B24">
              <a:alpha val="0"/>
            </a:srgbClr>
          </a:solidFill>
          <a:ln w="12700">
            <a:solidFill>
              <a:srgbClr val="F1B75E">
                <a:alpha val="25000"/>
              </a:srgbClr>
            </a:solidFill>
            <a:prstDash val="solid"/>
          </a:ln>
        </p:spPr>
      </p:sp>
      <p:sp>
        <p:nvSpPr>
          <p:cNvPr id="4" name="Text 2"/>
          <p:cNvSpPr/>
          <p:nvPr/>
        </p:nvSpPr>
        <p:spPr>
          <a:xfrm>
            <a:off x="630936" y="201168"/>
            <a:ext cx="2148840" cy="201168"/>
          </a:xfrm>
          <a:prstGeom prst="rect">
            <a:avLst/>
          </a:prstGeom>
          <a:noFill/>
          <a:ln/>
        </p:spPr>
        <p:txBody>
          <a:bodyPr wrap="square" lIns="0" tIns="0" rIns="0" bIns="0" rtlCol="0" anchor="ctr">
            <a:normAutofit/>
          </a:bodyPr>
          <a:lstStyle/>
          <a:p>
            <a:pPr indent="0" marL="0">
              <a:buNone/>
            </a:pPr>
            <a:r>
              <a:rPr lang="en-US" sz="1020" b="1" spc="150" kern="0" dirty="0">
                <a:solidFill>
                  <a:srgbClr val="F1B75E"/>
                </a:solidFill>
                <a:latin typeface="Aptos" pitchFamily="34" charset="0"/>
                <a:ea typeface="Aptos" pitchFamily="34" charset="-122"/>
                <a:cs typeface="Aptos" pitchFamily="34" charset="-120"/>
              </a:rPr>
              <a:t>BREAQ 2026</a:t>
            </a:r>
            <a:endParaRPr lang="en-US" sz="1020" dirty="0"/>
          </a:p>
        </p:txBody>
      </p:sp>
      <p:sp>
        <p:nvSpPr>
          <p:cNvPr id="5" name="Text 3"/>
          <p:cNvSpPr/>
          <p:nvPr/>
        </p:nvSpPr>
        <p:spPr>
          <a:xfrm>
            <a:off x="2788920" y="210312"/>
            <a:ext cx="5394960" cy="192024"/>
          </a:xfrm>
          <a:prstGeom prst="rect">
            <a:avLst/>
          </a:prstGeom>
          <a:noFill/>
          <a:ln/>
        </p:spPr>
        <p:txBody>
          <a:bodyPr wrap="square" lIns="0" tIns="0" rIns="0" bIns="0" rtlCol="0" anchor="ctr">
            <a:normAutofit/>
          </a:bodyPr>
          <a:lstStyle/>
          <a:p>
            <a:pPr indent="0" marL="0">
              <a:buNone/>
            </a:pPr>
            <a:r>
              <a:rPr lang="en-US" sz="970" spc="110" kern="0" dirty="0">
                <a:solidFill>
                  <a:srgbClr val="8793B1"/>
                </a:solidFill>
                <a:latin typeface="Aptos" pitchFamily="34" charset="0"/>
                <a:ea typeface="Aptos" pitchFamily="34" charset="-122"/>
                <a:cs typeface="Aptos" pitchFamily="34" charset="-120"/>
              </a:rPr>
              <a:t>EXPERIMENT 11</a:t>
            </a:r>
            <a:endParaRPr lang="en-US" sz="970" dirty="0"/>
          </a:p>
        </p:txBody>
      </p:sp>
      <p:sp>
        <p:nvSpPr>
          <p:cNvPr id="6" name="Text 4"/>
          <p:cNvSpPr/>
          <p:nvPr/>
        </p:nvSpPr>
        <p:spPr>
          <a:xfrm>
            <a:off x="11018520" y="155448"/>
            <a:ext cx="594360" cy="310896"/>
          </a:xfrm>
          <a:prstGeom prst="rect">
            <a:avLst/>
          </a:prstGeom>
          <a:noFill/>
          <a:ln/>
        </p:spPr>
        <p:txBody>
          <a:bodyPr wrap="square" lIns="0" tIns="0" rIns="0" bIns="0" rtlCol="0" anchor="ctr">
            <a:normAutofit/>
          </a:bodyPr>
          <a:lstStyle/>
          <a:p>
            <a:pPr algn="r" indent="0" marL="0">
              <a:buNone/>
            </a:pPr>
            <a:r>
              <a:rPr lang="en-US" sz="1500" b="1" dirty="0">
                <a:solidFill>
                  <a:srgbClr val="DCE0EE"/>
                </a:solidFill>
                <a:latin typeface="Aptos" pitchFamily="34" charset="0"/>
                <a:ea typeface="Aptos" pitchFamily="34" charset="-122"/>
                <a:cs typeface="Aptos" pitchFamily="34" charset="-120"/>
              </a:rPr>
              <a:t>04</a:t>
            </a:r>
            <a:endParaRPr lang="en-US" sz="1500" dirty="0"/>
          </a:p>
        </p:txBody>
      </p:sp>
      <p:sp>
        <p:nvSpPr>
          <p:cNvPr id="7" name="Shape 5"/>
          <p:cNvSpPr/>
          <p:nvPr/>
        </p:nvSpPr>
        <p:spPr>
          <a:xfrm>
            <a:off x="640080" y="557784"/>
            <a:ext cx="10927080" cy="0"/>
          </a:xfrm>
          <a:prstGeom prst="line">
            <a:avLst/>
          </a:prstGeom>
          <a:noFill/>
          <a:ln w="9525">
            <a:solidFill>
              <a:srgbClr val="3D435C"/>
            </a:solidFill>
            <a:prstDash val="solid"/>
          </a:ln>
        </p:spPr>
      </p:sp>
      <p:sp>
        <p:nvSpPr>
          <p:cNvPr id="8" name="Text 6"/>
          <p:cNvSpPr/>
          <p:nvPr/>
        </p:nvSpPr>
        <p:spPr>
          <a:xfrm>
            <a:off x="658368" y="722376"/>
            <a:ext cx="10652760" cy="493776"/>
          </a:xfrm>
          <a:prstGeom prst="rect">
            <a:avLst/>
          </a:prstGeom>
          <a:noFill/>
          <a:ln/>
        </p:spPr>
        <p:txBody>
          <a:bodyPr wrap="square" lIns="0" tIns="0" rIns="0" bIns="0" rtlCol="0" anchor="ctr">
            <a:normAutofit/>
          </a:bodyPr>
          <a:lstStyle/>
          <a:p>
            <a:pPr indent="0" marL="0">
              <a:buNone/>
            </a:pPr>
            <a:r>
              <a:rPr lang="en-US" sz="3200" b="1" dirty="0">
                <a:solidFill>
                  <a:srgbClr val="FAFAFC"/>
                </a:solidFill>
                <a:latin typeface="Aptos" pitchFamily="34" charset="0"/>
                <a:ea typeface="Aptos" pitchFamily="34" charset="-122"/>
                <a:cs typeface="Aptos" pitchFamily="34" charset="-120"/>
              </a:rPr>
              <a:t>Quantum Readout Optimization</a:t>
            </a:r>
            <a:endParaRPr lang="en-US" sz="3200" dirty="0"/>
          </a:p>
        </p:txBody>
      </p:sp>
      <p:sp>
        <p:nvSpPr>
          <p:cNvPr id="9" name="Text 7"/>
          <p:cNvSpPr/>
          <p:nvPr/>
        </p:nvSpPr>
        <p:spPr>
          <a:xfrm>
            <a:off x="676656" y="1280160"/>
            <a:ext cx="10652760" cy="301752"/>
          </a:xfrm>
          <a:prstGeom prst="rect">
            <a:avLst/>
          </a:prstGeom>
          <a:noFill/>
          <a:ln/>
        </p:spPr>
        <p:txBody>
          <a:bodyPr wrap="square" lIns="0" tIns="0" rIns="0" bIns="0" rtlCol="0" anchor="ctr">
            <a:normAutofit/>
          </a:bodyPr>
          <a:lstStyle/>
          <a:p>
            <a:pPr indent="0" marL="0">
              <a:buNone/>
            </a:pPr>
            <a:r>
              <a:rPr lang="en-US" sz="1550" dirty="0">
                <a:solidFill>
                  <a:srgbClr val="B0B8CE"/>
                </a:solidFill>
                <a:latin typeface="Aptos" pitchFamily="34" charset="0"/>
                <a:ea typeface="Aptos" pitchFamily="34" charset="-122"/>
                <a:cs typeface="Aptos" pitchFamily="34" charset="-120"/>
              </a:rPr>
              <a:t>Same STAR circuit; different observables can produce different fraud rankings</a:t>
            </a:r>
            <a:endParaRPr lang="en-US" sz="1550" dirty="0"/>
          </a:p>
        </p:txBody>
      </p:sp>
      <p:sp>
        <p:nvSpPr>
          <p:cNvPr id="10" name="Shape 8"/>
          <p:cNvSpPr/>
          <p:nvPr/>
        </p:nvSpPr>
        <p:spPr>
          <a:xfrm>
            <a:off x="640080" y="6373368"/>
            <a:ext cx="10927080" cy="0"/>
          </a:xfrm>
          <a:prstGeom prst="line">
            <a:avLst/>
          </a:prstGeom>
          <a:noFill/>
          <a:ln w="8890">
            <a:solidFill>
              <a:srgbClr val="3D435C"/>
            </a:solidFill>
            <a:prstDash val="solid"/>
          </a:ln>
        </p:spPr>
      </p:sp>
      <p:sp>
        <p:nvSpPr>
          <p:cNvPr id="11" name="Text 9"/>
          <p:cNvSpPr/>
          <p:nvPr/>
        </p:nvSpPr>
        <p:spPr>
          <a:xfrm>
            <a:off x="658368" y="6446520"/>
            <a:ext cx="8961120" cy="201168"/>
          </a:xfrm>
          <a:prstGeom prst="rect">
            <a:avLst/>
          </a:prstGeom>
          <a:noFill/>
          <a:ln/>
        </p:spPr>
        <p:txBody>
          <a:bodyPr wrap="square" lIns="0" tIns="0" rIns="0" bIns="0" rtlCol="0" anchor="ctr">
            <a:normAutofit/>
          </a:bodyPr>
          <a:lstStyle/>
          <a:p>
            <a:pPr indent="0" marL="0">
              <a:buNone/>
            </a:pPr>
            <a:r>
              <a:rPr lang="en-US" sz="950" dirty="0">
                <a:solidFill>
                  <a:srgbClr val="8793B1"/>
                </a:solidFill>
                <a:latin typeface="Aptos" pitchFamily="34" charset="0"/>
                <a:ea typeface="Aptos" pitchFamily="34" charset="-122"/>
                <a:cs typeface="Aptos" pitchFamily="34" charset="-120"/>
              </a:rPr>
              <a:t>Fraud on a Quantum Budget  •  Exact density-matrix evaluation unless stated</a:t>
            </a:r>
            <a:endParaRPr lang="en-US" sz="950" dirty="0"/>
          </a:p>
        </p:txBody>
      </p:sp>
      <p:sp>
        <p:nvSpPr>
          <p:cNvPr id="12" name="Text 10"/>
          <p:cNvSpPr/>
          <p:nvPr/>
        </p:nvSpPr>
        <p:spPr>
          <a:xfrm>
            <a:off x="9738360" y="6446520"/>
            <a:ext cx="1783080" cy="201168"/>
          </a:xfrm>
          <a:prstGeom prst="rect">
            <a:avLst/>
          </a:prstGeom>
          <a:noFill/>
          <a:ln/>
        </p:spPr>
        <p:txBody>
          <a:bodyPr wrap="square" lIns="0" tIns="0" rIns="0" bIns="0" rtlCol="0" anchor="ctr">
            <a:normAutofit/>
          </a:bodyPr>
          <a:lstStyle/>
          <a:p>
            <a:pPr algn="r" indent="0" marL="0">
              <a:buNone/>
            </a:pPr>
            <a:r>
              <a:rPr lang="en-US" sz="960" dirty="0">
                <a:solidFill>
                  <a:srgbClr val="8793B1"/>
                </a:solidFill>
                <a:latin typeface="Aptos" pitchFamily="34" charset="0"/>
                <a:ea typeface="Aptos" pitchFamily="34" charset="-122"/>
                <a:cs typeface="Aptos" pitchFamily="34" charset="-120"/>
              </a:rPr>
              <a:t>BREAQ 2026   /   04</a:t>
            </a:r>
            <a:endParaRPr lang="en-US" sz="960" dirty="0"/>
          </a:p>
        </p:txBody>
      </p:sp>
      <p:sp>
        <p:nvSpPr>
          <p:cNvPr id="13" name="Shape 11"/>
          <p:cNvSpPr/>
          <p:nvPr/>
        </p:nvSpPr>
        <p:spPr>
          <a:xfrm>
            <a:off x="630936" y="1755648"/>
            <a:ext cx="7909560" cy="4343400"/>
          </a:xfrm>
          <a:prstGeom prst="roundRect">
            <a:avLst>
              <a:gd name="adj" fmla="val 2105"/>
            </a:avLst>
          </a:prstGeom>
          <a:solidFill>
            <a:srgbClr val="232635"/>
          </a:solidFill>
          <a:ln w="8890">
            <a:solidFill>
              <a:srgbClr val="3D435C"/>
            </a:solidFill>
            <a:prstDash val="solid"/>
          </a:ln>
        </p:spPr>
      </p:sp>
      <p:sp>
        <p:nvSpPr>
          <p:cNvPr id="14" name="Text 12"/>
          <p:cNvSpPr/>
          <p:nvPr/>
        </p:nvSpPr>
        <p:spPr>
          <a:xfrm>
            <a:off x="850392" y="1911096"/>
            <a:ext cx="7452360" cy="246888"/>
          </a:xfrm>
          <a:prstGeom prst="rect">
            <a:avLst/>
          </a:prstGeom>
          <a:noFill/>
          <a:ln/>
        </p:spPr>
        <p:txBody>
          <a:bodyPr wrap="square" lIns="0" tIns="0" rIns="0" bIns="0" rtlCol="0" anchor="ctr">
            <a:normAutofit/>
          </a:bodyPr>
          <a:lstStyle/>
          <a:p>
            <a:pPr indent="0" marL="0">
              <a:buNone/>
            </a:pPr>
            <a:r>
              <a:rPr lang="en-US" sz="1100" b="1" spc="100" kern="0" dirty="0">
                <a:solidFill>
                  <a:srgbClr val="DCE0EE"/>
                </a:solidFill>
                <a:latin typeface="Aptos" pitchFamily="34" charset="0"/>
                <a:ea typeface="Aptos" pitchFamily="34" charset="-122"/>
                <a:cs typeface="Aptos" pitchFamily="34" charset="-120"/>
              </a:rPr>
              <a:t>VALIDATION AUPRC VS DEPOLARIZING PROBABILITY P  •  MEAN OVER 5 SEEDS</a:t>
            </a:r>
            <a:endParaRPr lang="en-US" sz="1100" dirty="0"/>
          </a:p>
        </p:txBody>
      </p:sp>
      <p:sp>
        <p:nvSpPr>
          <p:cNvPr id="15" name="Shape 13"/>
          <p:cNvSpPr/>
          <p:nvPr/>
        </p:nvSpPr>
        <p:spPr>
          <a:xfrm>
            <a:off x="822960" y="2258568"/>
            <a:ext cx="7525512" cy="0"/>
          </a:xfrm>
          <a:prstGeom prst="line">
            <a:avLst/>
          </a:prstGeom>
          <a:noFill/>
          <a:ln w="8255">
            <a:solidFill>
              <a:srgbClr val="3D435C"/>
            </a:solidFill>
            <a:prstDash val="solid"/>
          </a:ln>
        </p:spPr>
      </p:sp>
      <p:graphicFrame>
        <p:nvGraphicFramePr>
          <p:cNvPr id="16" name="Chart 0" descr=""/>
          <p:cNvGraphicFramePr/>
          <p:nvPr/>
        </p:nvGraphicFramePr>
        <p:xfrm>
          <a:off x="914400" y="2313432"/>
          <a:ext cx="7370064" cy="3127248"/>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896112" y="5742432"/>
            <a:ext cx="219456" cy="0"/>
          </a:xfrm>
          <a:prstGeom prst="line">
            <a:avLst/>
          </a:prstGeom>
          <a:noFill/>
          <a:ln w="38100">
            <a:solidFill>
              <a:srgbClr val="6DADF3"/>
            </a:solidFill>
            <a:prstDash val="solid"/>
          </a:ln>
        </p:spPr>
      </p:sp>
      <p:sp>
        <p:nvSpPr>
          <p:cNvPr id="18" name="Text 15"/>
          <p:cNvSpPr/>
          <p:nvPr/>
        </p:nvSpPr>
        <p:spPr>
          <a:xfrm>
            <a:off x="1197864" y="5641848"/>
            <a:ext cx="1161288" cy="237744"/>
          </a:xfrm>
          <a:prstGeom prst="rect">
            <a:avLst/>
          </a:prstGeom>
          <a:noFill/>
          <a:ln/>
        </p:spPr>
        <p:txBody>
          <a:bodyPr wrap="square" lIns="0" tIns="0" rIns="0" bIns="0" rtlCol="0" anchor="ctr">
            <a:normAutofit/>
          </a:bodyPr>
          <a:lstStyle/>
          <a:p>
            <a:pPr indent="0" marL="0">
              <a:buNone/>
            </a:pPr>
            <a:r>
              <a:rPr lang="en-US" sz="1070" dirty="0">
                <a:solidFill>
                  <a:srgbClr val="DCE0EE"/>
                </a:solidFill>
                <a:latin typeface="Aptos" pitchFamily="34" charset="0"/>
                <a:ea typeface="Aptos" pitchFamily="34" charset="-122"/>
                <a:cs typeface="Aptos" pitchFamily="34" charset="-120"/>
              </a:rPr>
              <a:t>Z₀</a:t>
            </a:r>
            <a:endParaRPr lang="en-US" sz="1070" dirty="0"/>
          </a:p>
        </p:txBody>
      </p:sp>
      <p:sp>
        <p:nvSpPr>
          <p:cNvPr id="19" name="Shape 16"/>
          <p:cNvSpPr/>
          <p:nvPr/>
        </p:nvSpPr>
        <p:spPr>
          <a:xfrm>
            <a:off x="2368296" y="5742432"/>
            <a:ext cx="219456" cy="0"/>
          </a:xfrm>
          <a:prstGeom prst="line">
            <a:avLst/>
          </a:prstGeom>
          <a:noFill/>
          <a:ln w="38100">
            <a:solidFill>
              <a:srgbClr val="788AE4"/>
            </a:solidFill>
            <a:prstDash val="solid"/>
          </a:ln>
        </p:spPr>
      </p:sp>
      <p:sp>
        <p:nvSpPr>
          <p:cNvPr id="20" name="Text 17"/>
          <p:cNvSpPr/>
          <p:nvPr/>
        </p:nvSpPr>
        <p:spPr>
          <a:xfrm>
            <a:off x="2670048" y="5641848"/>
            <a:ext cx="1161288" cy="237744"/>
          </a:xfrm>
          <a:prstGeom prst="rect">
            <a:avLst/>
          </a:prstGeom>
          <a:noFill/>
          <a:ln/>
        </p:spPr>
        <p:txBody>
          <a:bodyPr wrap="square" lIns="0" tIns="0" rIns="0" bIns="0" rtlCol="0" anchor="ctr">
            <a:normAutofit/>
          </a:bodyPr>
          <a:lstStyle/>
          <a:p>
            <a:pPr indent="0" marL="0">
              <a:buNone/>
            </a:pPr>
            <a:r>
              <a:rPr lang="en-US" sz="1070" dirty="0">
                <a:solidFill>
                  <a:srgbClr val="DCE0EE"/>
                </a:solidFill>
                <a:latin typeface="Aptos" pitchFamily="34" charset="0"/>
                <a:ea typeface="Aptos" pitchFamily="34" charset="-122"/>
                <a:cs typeface="Aptos" pitchFamily="34" charset="-120"/>
              </a:rPr>
              <a:t>Z₁</a:t>
            </a:r>
            <a:endParaRPr lang="en-US" sz="1070" dirty="0"/>
          </a:p>
        </p:txBody>
      </p:sp>
      <p:sp>
        <p:nvSpPr>
          <p:cNvPr id="21" name="Shape 18"/>
          <p:cNvSpPr/>
          <p:nvPr/>
        </p:nvSpPr>
        <p:spPr>
          <a:xfrm>
            <a:off x="3840480" y="5742432"/>
            <a:ext cx="219456" cy="0"/>
          </a:xfrm>
          <a:prstGeom prst="line">
            <a:avLst/>
          </a:prstGeom>
          <a:noFill/>
          <a:ln w="38100">
            <a:solidFill>
              <a:srgbClr val="62BDB9"/>
            </a:solidFill>
            <a:prstDash val="solid"/>
          </a:ln>
        </p:spPr>
      </p:sp>
      <p:sp>
        <p:nvSpPr>
          <p:cNvPr id="22" name="Text 19"/>
          <p:cNvSpPr/>
          <p:nvPr/>
        </p:nvSpPr>
        <p:spPr>
          <a:xfrm>
            <a:off x="4142232" y="5641848"/>
            <a:ext cx="1161288" cy="237744"/>
          </a:xfrm>
          <a:prstGeom prst="rect">
            <a:avLst/>
          </a:prstGeom>
          <a:noFill/>
          <a:ln/>
        </p:spPr>
        <p:txBody>
          <a:bodyPr wrap="square" lIns="0" tIns="0" rIns="0" bIns="0" rtlCol="0" anchor="ctr">
            <a:normAutofit/>
          </a:bodyPr>
          <a:lstStyle/>
          <a:p>
            <a:pPr indent="0" marL="0">
              <a:buNone/>
            </a:pPr>
            <a:r>
              <a:rPr lang="en-US" sz="1070" dirty="0">
                <a:solidFill>
                  <a:srgbClr val="DCE0EE"/>
                </a:solidFill>
                <a:latin typeface="Aptos" pitchFamily="34" charset="0"/>
                <a:ea typeface="Aptos" pitchFamily="34" charset="-122"/>
                <a:cs typeface="Aptos" pitchFamily="34" charset="-120"/>
              </a:rPr>
              <a:t>Z₂</a:t>
            </a:r>
            <a:endParaRPr lang="en-US" sz="1070" dirty="0"/>
          </a:p>
        </p:txBody>
      </p:sp>
      <p:sp>
        <p:nvSpPr>
          <p:cNvPr id="23" name="Shape 20"/>
          <p:cNvSpPr/>
          <p:nvPr/>
        </p:nvSpPr>
        <p:spPr>
          <a:xfrm>
            <a:off x="5312664" y="5742432"/>
            <a:ext cx="219456" cy="0"/>
          </a:xfrm>
          <a:prstGeom prst="line">
            <a:avLst/>
          </a:prstGeom>
          <a:noFill/>
          <a:ln w="38100">
            <a:solidFill>
              <a:srgbClr val="DA9163"/>
            </a:solidFill>
            <a:prstDash val="solid"/>
          </a:ln>
        </p:spPr>
      </p:sp>
      <p:sp>
        <p:nvSpPr>
          <p:cNvPr id="24" name="Text 21"/>
          <p:cNvSpPr/>
          <p:nvPr/>
        </p:nvSpPr>
        <p:spPr>
          <a:xfrm>
            <a:off x="5614416" y="5641848"/>
            <a:ext cx="1161288" cy="237744"/>
          </a:xfrm>
          <a:prstGeom prst="rect">
            <a:avLst/>
          </a:prstGeom>
          <a:noFill/>
          <a:ln/>
        </p:spPr>
        <p:txBody>
          <a:bodyPr wrap="square" lIns="0" tIns="0" rIns="0" bIns="0" rtlCol="0" anchor="ctr">
            <a:normAutofit/>
          </a:bodyPr>
          <a:lstStyle/>
          <a:p>
            <a:pPr indent="0" marL="0">
              <a:buNone/>
            </a:pPr>
            <a:r>
              <a:rPr lang="en-US" sz="1070" dirty="0">
                <a:solidFill>
                  <a:srgbClr val="DCE0EE"/>
                </a:solidFill>
                <a:latin typeface="Aptos" pitchFamily="34" charset="0"/>
                <a:ea typeface="Aptos" pitchFamily="34" charset="-122"/>
                <a:cs typeface="Aptos" pitchFamily="34" charset="-120"/>
              </a:rPr>
              <a:t>Z₃</a:t>
            </a:r>
            <a:endParaRPr lang="en-US" sz="1070" dirty="0"/>
          </a:p>
        </p:txBody>
      </p:sp>
      <p:sp>
        <p:nvSpPr>
          <p:cNvPr id="25" name="Shape 22"/>
          <p:cNvSpPr/>
          <p:nvPr/>
        </p:nvSpPr>
        <p:spPr>
          <a:xfrm>
            <a:off x="6784848" y="5742432"/>
            <a:ext cx="219456" cy="0"/>
          </a:xfrm>
          <a:prstGeom prst="line">
            <a:avLst/>
          </a:prstGeom>
          <a:noFill/>
          <a:ln w="38100">
            <a:solidFill>
              <a:srgbClr val="F1B75E"/>
            </a:solidFill>
            <a:prstDash val="solid"/>
          </a:ln>
        </p:spPr>
      </p:sp>
      <p:sp>
        <p:nvSpPr>
          <p:cNvPr id="26" name="Text 23"/>
          <p:cNvSpPr/>
          <p:nvPr/>
        </p:nvSpPr>
        <p:spPr>
          <a:xfrm>
            <a:off x="7086600" y="5641848"/>
            <a:ext cx="1161288" cy="237744"/>
          </a:xfrm>
          <a:prstGeom prst="rect">
            <a:avLst/>
          </a:prstGeom>
          <a:noFill/>
          <a:ln/>
        </p:spPr>
        <p:txBody>
          <a:bodyPr wrap="square" lIns="0" tIns="0" rIns="0" bIns="0" rtlCol="0" anchor="ctr">
            <a:normAutofit/>
          </a:bodyPr>
          <a:lstStyle/>
          <a:p>
            <a:pPr indent="0" marL="0">
              <a:buNone/>
            </a:pPr>
            <a:r>
              <a:rPr lang="en-US" sz="1070" dirty="0">
                <a:solidFill>
                  <a:srgbClr val="DCE0EE"/>
                </a:solidFill>
                <a:latin typeface="Aptos" pitchFamily="34" charset="0"/>
                <a:ea typeface="Aptos" pitchFamily="34" charset="-122"/>
                <a:cs typeface="Aptos" pitchFamily="34" charset="-120"/>
              </a:rPr>
              <a:t>Z₀Z₁</a:t>
            </a:r>
            <a:endParaRPr lang="en-US" sz="1070" dirty="0"/>
          </a:p>
        </p:txBody>
      </p:sp>
      <p:sp>
        <p:nvSpPr>
          <p:cNvPr id="27" name="Shape 24"/>
          <p:cNvSpPr/>
          <p:nvPr/>
        </p:nvSpPr>
        <p:spPr>
          <a:xfrm>
            <a:off x="8741664" y="1755648"/>
            <a:ext cx="2798064" cy="1234440"/>
          </a:xfrm>
          <a:prstGeom prst="roundRect">
            <a:avLst>
              <a:gd name="adj" fmla="val 9630"/>
            </a:avLst>
          </a:prstGeom>
          <a:solidFill>
            <a:srgbClr val="282B3B"/>
          </a:solidFill>
          <a:ln w="8890">
            <a:solidFill>
              <a:srgbClr val="3D435C"/>
            </a:solidFill>
            <a:prstDash val="solid"/>
          </a:ln>
        </p:spPr>
      </p:sp>
      <p:sp>
        <p:nvSpPr>
          <p:cNvPr id="28" name="Shape 25"/>
          <p:cNvSpPr/>
          <p:nvPr/>
        </p:nvSpPr>
        <p:spPr>
          <a:xfrm>
            <a:off x="8741664" y="1865376"/>
            <a:ext cx="40234" cy="1014984"/>
          </a:xfrm>
          <a:prstGeom prst="rect">
            <a:avLst/>
          </a:prstGeom>
          <a:solidFill>
            <a:srgbClr val="F1B75E"/>
          </a:solidFill>
          <a:ln w="12700">
            <a:solidFill>
              <a:srgbClr val="F1B75E">
                <a:alpha val="0"/>
              </a:srgbClr>
            </a:solidFill>
            <a:prstDash val="solid"/>
          </a:ln>
        </p:spPr>
      </p:sp>
      <p:sp>
        <p:nvSpPr>
          <p:cNvPr id="29" name="Text 26"/>
          <p:cNvSpPr/>
          <p:nvPr/>
        </p:nvSpPr>
        <p:spPr>
          <a:xfrm>
            <a:off x="8915400" y="1920240"/>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0.678</a:t>
            </a:r>
            <a:endParaRPr lang="en-US" sz="2700" dirty="0"/>
          </a:p>
        </p:txBody>
      </p:sp>
      <p:sp>
        <p:nvSpPr>
          <p:cNvPr id="30" name="Text 27"/>
          <p:cNvSpPr/>
          <p:nvPr/>
        </p:nvSpPr>
        <p:spPr>
          <a:xfrm>
            <a:off x="8915400" y="2459736"/>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Z₀Z₁ AUPRC  •  p = 0.05</a:t>
            </a:r>
            <a:endParaRPr lang="en-US" sz="1170" dirty="0"/>
          </a:p>
        </p:txBody>
      </p:sp>
      <p:sp>
        <p:nvSpPr>
          <p:cNvPr id="31" name="Text 28"/>
          <p:cNvSpPr/>
          <p:nvPr/>
        </p:nvSpPr>
        <p:spPr>
          <a:xfrm>
            <a:off x="8915400" y="2679192"/>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Z₀ readout: 0.622</a:t>
            </a:r>
            <a:endParaRPr lang="en-US" sz="1040" dirty="0"/>
          </a:p>
        </p:txBody>
      </p:sp>
      <p:sp>
        <p:nvSpPr>
          <p:cNvPr id="32" name="Shape 29"/>
          <p:cNvSpPr/>
          <p:nvPr/>
        </p:nvSpPr>
        <p:spPr>
          <a:xfrm>
            <a:off x="8741664" y="3108960"/>
            <a:ext cx="2798064" cy="1234440"/>
          </a:xfrm>
          <a:prstGeom prst="roundRect">
            <a:avLst>
              <a:gd name="adj" fmla="val 9630"/>
            </a:avLst>
          </a:prstGeom>
          <a:solidFill>
            <a:srgbClr val="282B3B"/>
          </a:solidFill>
          <a:ln w="8890">
            <a:solidFill>
              <a:srgbClr val="3D435C"/>
            </a:solidFill>
            <a:prstDash val="solid"/>
          </a:ln>
        </p:spPr>
      </p:sp>
      <p:sp>
        <p:nvSpPr>
          <p:cNvPr id="33" name="Text 30"/>
          <p:cNvSpPr/>
          <p:nvPr/>
        </p:nvSpPr>
        <p:spPr>
          <a:xfrm>
            <a:off x="8915400" y="3273552"/>
            <a:ext cx="2450592" cy="475488"/>
          </a:xfrm>
          <a:prstGeom prst="rect">
            <a:avLst/>
          </a:prstGeom>
          <a:noFill/>
          <a:ln/>
        </p:spPr>
        <p:txBody>
          <a:bodyPr wrap="square" lIns="0" tIns="0" rIns="0" bIns="0" rtlCol="0" anchor="ctr">
            <a:normAutofit/>
          </a:bodyPr>
          <a:lstStyle/>
          <a:p>
            <a:pPr indent="0" marL="0">
              <a:buNone/>
            </a:pPr>
            <a:r>
              <a:rPr lang="en-US" sz="2700" b="1" dirty="0">
                <a:solidFill>
                  <a:srgbClr val="FAFAFC"/>
                </a:solidFill>
                <a:latin typeface="Aptos" pitchFamily="34" charset="0"/>
                <a:ea typeface="Aptos" pitchFamily="34" charset="-122"/>
                <a:cs typeface="Aptos" pitchFamily="34" charset="-120"/>
              </a:rPr>
              <a:t>69.5%</a:t>
            </a:r>
            <a:endParaRPr lang="en-US" sz="2700" dirty="0"/>
          </a:p>
        </p:txBody>
      </p:sp>
      <p:sp>
        <p:nvSpPr>
          <p:cNvPr id="34" name="Text 31"/>
          <p:cNvSpPr/>
          <p:nvPr/>
        </p:nvSpPr>
        <p:spPr>
          <a:xfrm>
            <a:off x="8915400" y="3813048"/>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Recall at max-F1 threshold</a:t>
            </a:r>
            <a:endParaRPr lang="en-US" sz="1170" dirty="0"/>
          </a:p>
        </p:txBody>
      </p:sp>
      <p:sp>
        <p:nvSpPr>
          <p:cNvPr id="35" name="Text 32"/>
          <p:cNvSpPr/>
          <p:nvPr/>
        </p:nvSpPr>
        <p:spPr>
          <a:xfrm>
            <a:off x="8915400" y="4032504"/>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Validation  •  99 fraud cases</a:t>
            </a:r>
            <a:endParaRPr lang="en-US" sz="1040" dirty="0"/>
          </a:p>
        </p:txBody>
      </p:sp>
      <p:sp>
        <p:nvSpPr>
          <p:cNvPr id="36" name="Shape 33"/>
          <p:cNvSpPr/>
          <p:nvPr/>
        </p:nvSpPr>
        <p:spPr>
          <a:xfrm>
            <a:off x="8741664" y="4471416"/>
            <a:ext cx="2798064" cy="1636776"/>
          </a:xfrm>
          <a:prstGeom prst="roundRect">
            <a:avLst>
              <a:gd name="adj" fmla="val 7263"/>
            </a:avLst>
          </a:prstGeom>
          <a:solidFill>
            <a:srgbClr val="282B3B"/>
          </a:solidFill>
          <a:ln w="8890">
            <a:solidFill>
              <a:srgbClr val="3D435C"/>
            </a:solidFill>
            <a:prstDash val="solid"/>
          </a:ln>
        </p:spPr>
      </p:sp>
      <p:sp>
        <p:nvSpPr>
          <p:cNvPr id="37" name="Text 34"/>
          <p:cNvSpPr/>
          <p:nvPr/>
        </p:nvSpPr>
        <p:spPr>
          <a:xfrm>
            <a:off x="8915400" y="4636008"/>
            <a:ext cx="2450592" cy="475488"/>
          </a:xfrm>
          <a:prstGeom prst="rect">
            <a:avLst/>
          </a:prstGeom>
          <a:noFill/>
          <a:ln/>
        </p:spPr>
        <p:txBody>
          <a:bodyPr wrap="square" lIns="0" tIns="0" rIns="0" bIns="0" rtlCol="0" anchor="ctr">
            <a:normAutofit/>
          </a:bodyPr>
          <a:lstStyle/>
          <a:p>
            <a:pPr indent="0" marL="0">
              <a:buNone/>
            </a:pPr>
            <a:r>
              <a:rPr lang="en-US" sz="2700" b="1" dirty="0">
                <a:solidFill>
                  <a:srgbClr val="F1B75E"/>
                </a:solidFill>
                <a:latin typeface="Aptos" pitchFamily="34" charset="0"/>
                <a:ea typeface="Aptos" pitchFamily="34" charset="-122"/>
                <a:cs typeface="Aptos" pitchFamily="34" charset="-120"/>
              </a:rPr>
              <a:t>15</a:t>
            </a:r>
            <a:endParaRPr lang="en-US" sz="2700" dirty="0"/>
          </a:p>
        </p:txBody>
      </p:sp>
      <p:sp>
        <p:nvSpPr>
          <p:cNvPr id="38" name="Text 35"/>
          <p:cNvSpPr/>
          <p:nvPr/>
        </p:nvSpPr>
        <p:spPr>
          <a:xfrm>
            <a:off x="8915400" y="5175504"/>
            <a:ext cx="2478024" cy="210312"/>
          </a:xfrm>
          <a:prstGeom prst="rect">
            <a:avLst/>
          </a:prstGeom>
          <a:noFill/>
          <a:ln/>
        </p:spPr>
        <p:txBody>
          <a:bodyPr wrap="square" lIns="0" tIns="0" rIns="0" bIns="0" rtlCol="0" anchor="ctr">
            <a:normAutofit/>
          </a:bodyPr>
          <a:lstStyle/>
          <a:p>
            <a:pPr indent="0" marL="0">
              <a:buNone/>
            </a:pPr>
            <a:r>
              <a:rPr lang="en-US" sz="1170" b="1" dirty="0">
                <a:solidFill>
                  <a:srgbClr val="DCE0EE"/>
                </a:solidFill>
                <a:latin typeface="Aptos" pitchFamily="34" charset="0"/>
                <a:ea typeface="Aptos" pitchFamily="34" charset="-122"/>
                <a:cs typeface="Aptos" pitchFamily="34" charset="-120"/>
              </a:rPr>
              <a:t>CNOT gates unchanged</a:t>
            </a:r>
            <a:endParaRPr lang="en-US" sz="1170" dirty="0"/>
          </a:p>
        </p:txBody>
      </p:sp>
      <p:sp>
        <p:nvSpPr>
          <p:cNvPr id="39" name="Text 36"/>
          <p:cNvSpPr/>
          <p:nvPr/>
        </p:nvSpPr>
        <p:spPr>
          <a:xfrm>
            <a:off x="8915400" y="5797296"/>
            <a:ext cx="2468880" cy="173736"/>
          </a:xfrm>
          <a:prstGeom prst="rect">
            <a:avLst/>
          </a:prstGeom>
          <a:noFill/>
          <a:ln/>
        </p:spPr>
        <p:txBody>
          <a:bodyPr wrap="square" lIns="0" tIns="0" rIns="0" bIns="0" rtlCol="0" anchor="ctr">
            <a:normAutofit/>
          </a:bodyPr>
          <a:lstStyle/>
          <a:p>
            <a:pPr indent="0" marL="0">
              <a:buNone/>
            </a:pPr>
            <a:r>
              <a:rPr lang="en-US" sz="1040" dirty="0">
                <a:solidFill>
                  <a:srgbClr val="B0B8CE"/>
                </a:solidFill>
                <a:latin typeface="Aptos" pitchFamily="34" charset="0"/>
                <a:ea typeface="Aptos" pitchFamily="34" charset="-122"/>
                <a:cs typeface="Aptos" pitchFamily="34" charset="-120"/>
              </a:rPr>
              <a:t>18.2 mean false positives  •  5 seeds</a:t>
            </a:r>
            <a:endParaRPr lang="en-US" sz="10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91B24"/>
        </a:solidFill>
      </p:bgPr>
    </p:bg>
    <p:spTree>
      <p:nvGrpSpPr>
        <p:cNvPr id="1" name=""/>
        <p:cNvGrpSpPr/>
        <p:nvPr/>
      </p:nvGrpSpPr>
      <p:grpSpPr>
        <a:xfrm>
          <a:off x="0" y="0"/>
          <a:ext cx="0" cy="0"/>
          <a:chOff x="0" y="0"/>
          <a:chExt cx="0" cy="0"/>
        </a:xfrm>
      </p:grpSpPr>
      <p:sp>
        <p:nvSpPr>
          <p:cNvPr id="2" name="Shape 0"/>
          <p:cNvSpPr/>
          <p:nvPr/>
        </p:nvSpPr>
        <p:spPr>
          <a:xfrm rot="1800000">
            <a:off x="10881360" y="-411480"/>
            <a:ext cx="1463040" cy="1463040"/>
          </a:xfrm>
          <a:prstGeom prst="arc">
            <a:avLst/>
          </a:prstGeom>
          <a:solidFill>
            <a:srgbClr val="191B24">
              <a:alpha val="0"/>
            </a:srgbClr>
          </a:solidFill>
          <a:ln w="12700">
            <a:solidFill>
              <a:srgbClr val="788AE4">
                <a:alpha val="25000"/>
              </a:srgbClr>
            </a:solidFill>
            <a:prstDash val="solid"/>
          </a:ln>
        </p:spPr>
      </p:sp>
      <p:sp>
        <p:nvSpPr>
          <p:cNvPr id="3" name="Shape 1"/>
          <p:cNvSpPr/>
          <p:nvPr/>
        </p:nvSpPr>
        <p:spPr>
          <a:xfrm rot="3720000">
            <a:off x="11201400" y="-219456"/>
            <a:ext cx="1051560" cy="1051560"/>
          </a:xfrm>
          <a:prstGeom prst="arc">
            <a:avLst/>
          </a:prstGeom>
          <a:solidFill>
            <a:srgbClr val="191B24">
              <a:alpha val="0"/>
            </a:srgbClr>
          </a:solidFill>
          <a:ln w="12700">
            <a:solidFill>
              <a:srgbClr val="F1B75E">
                <a:alpha val="25000"/>
              </a:srgbClr>
            </a:solidFill>
            <a:prstDash val="solid"/>
          </a:ln>
        </p:spPr>
      </p:sp>
      <p:sp>
        <p:nvSpPr>
          <p:cNvPr id="4" name="Text 2"/>
          <p:cNvSpPr/>
          <p:nvPr/>
        </p:nvSpPr>
        <p:spPr>
          <a:xfrm>
            <a:off x="630936" y="201168"/>
            <a:ext cx="2148840" cy="201168"/>
          </a:xfrm>
          <a:prstGeom prst="rect">
            <a:avLst/>
          </a:prstGeom>
          <a:noFill/>
          <a:ln/>
        </p:spPr>
        <p:txBody>
          <a:bodyPr wrap="square" lIns="0" tIns="0" rIns="0" bIns="0" rtlCol="0" anchor="ctr">
            <a:normAutofit/>
          </a:bodyPr>
          <a:lstStyle/>
          <a:p>
            <a:pPr indent="0" marL="0">
              <a:buNone/>
            </a:pPr>
            <a:r>
              <a:rPr lang="en-US" sz="1020" b="1" spc="150" kern="0" dirty="0">
                <a:solidFill>
                  <a:srgbClr val="F1B75E"/>
                </a:solidFill>
                <a:latin typeface="Aptos" pitchFamily="34" charset="0"/>
                <a:ea typeface="Aptos" pitchFamily="34" charset="-122"/>
                <a:cs typeface="Aptos" pitchFamily="34" charset="-120"/>
              </a:rPr>
              <a:t>BREAQ 2026</a:t>
            </a:r>
            <a:endParaRPr lang="en-US" sz="1020" dirty="0"/>
          </a:p>
        </p:txBody>
      </p:sp>
      <p:sp>
        <p:nvSpPr>
          <p:cNvPr id="5" name="Text 3"/>
          <p:cNvSpPr/>
          <p:nvPr/>
        </p:nvSpPr>
        <p:spPr>
          <a:xfrm>
            <a:off x="2788920" y="210312"/>
            <a:ext cx="5394960" cy="192024"/>
          </a:xfrm>
          <a:prstGeom prst="rect">
            <a:avLst/>
          </a:prstGeom>
          <a:noFill/>
          <a:ln/>
        </p:spPr>
        <p:txBody>
          <a:bodyPr wrap="square" lIns="0" tIns="0" rIns="0" bIns="0" rtlCol="0" anchor="ctr">
            <a:normAutofit/>
          </a:bodyPr>
          <a:lstStyle/>
          <a:p>
            <a:pPr indent="0" marL="0">
              <a:buNone/>
            </a:pPr>
            <a:r>
              <a:rPr lang="en-US" sz="970" spc="110" kern="0" dirty="0">
                <a:solidFill>
                  <a:srgbClr val="8793B1"/>
                </a:solidFill>
                <a:latin typeface="Aptos" pitchFamily="34" charset="0"/>
                <a:ea typeface="Aptos" pitchFamily="34" charset="-122"/>
                <a:cs typeface="Aptos" pitchFamily="34" charset="-120"/>
              </a:rPr>
              <a:t>EXPERIMENT 12</a:t>
            </a:r>
            <a:endParaRPr lang="en-US" sz="970" dirty="0"/>
          </a:p>
        </p:txBody>
      </p:sp>
      <p:sp>
        <p:nvSpPr>
          <p:cNvPr id="6" name="Text 4"/>
          <p:cNvSpPr/>
          <p:nvPr/>
        </p:nvSpPr>
        <p:spPr>
          <a:xfrm>
            <a:off x="11018520" y="155448"/>
            <a:ext cx="594360" cy="310896"/>
          </a:xfrm>
          <a:prstGeom prst="rect">
            <a:avLst/>
          </a:prstGeom>
          <a:noFill/>
          <a:ln/>
        </p:spPr>
        <p:txBody>
          <a:bodyPr wrap="square" lIns="0" tIns="0" rIns="0" bIns="0" rtlCol="0" anchor="ctr">
            <a:normAutofit/>
          </a:bodyPr>
          <a:lstStyle/>
          <a:p>
            <a:pPr algn="r" indent="0" marL="0">
              <a:buNone/>
            </a:pPr>
            <a:r>
              <a:rPr lang="en-US" sz="1500" b="1" dirty="0">
                <a:solidFill>
                  <a:srgbClr val="DCE0EE"/>
                </a:solidFill>
                <a:latin typeface="Aptos" pitchFamily="34" charset="0"/>
                <a:ea typeface="Aptos" pitchFamily="34" charset="-122"/>
                <a:cs typeface="Aptos" pitchFamily="34" charset="-120"/>
              </a:rPr>
              <a:t>05</a:t>
            </a:r>
            <a:endParaRPr lang="en-US" sz="1500" dirty="0"/>
          </a:p>
        </p:txBody>
      </p:sp>
      <p:sp>
        <p:nvSpPr>
          <p:cNvPr id="7" name="Shape 5"/>
          <p:cNvSpPr/>
          <p:nvPr/>
        </p:nvSpPr>
        <p:spPr>
          <a:xfrm>
            <a:off x="640080" y="557784"/>
            <a:ext cx="10927080" cy="0"/>
          </a:xfrm>
          <a:prstGeom prst="line">
            <a:avLst/>
          </a:prstGeom>
          <a:noFill/>
          <a:ln w="9525">
            <a:solidFill>
              <a:srgbClr val="3D435C"/>
            </a:solidFill>
            <a:prstDash val="solid"/>
          </a:ln>
        </p:spPr>
      </p:sp>
      <p:sp>
        <p:nvSpPr>
          <p:cNvPr id="8" name="Text 6"/>
          <p:cNvSpPr/>
          <p:nvPr/>
        </p:nvSpPr>
        <p:spPr>
          <a:xfrm>
            <a:off x="658368" y="722376"/>
            <a:ext cx="10652760" cy="493776"/>
          </a:xfrm>
          <a:prstGeom prst="rect">
            <a:avLst/>
          </a:prstGeom>
          <a:noFill/>
          <a:ln/>
        </p:spPr>
        <p:txBody>
          <a:bodyPr wrap="square" lIns="0" tIns="0" rIns="0" bIns="0" rtlCol="0" anchor="ctr">
            <a:normAutofit/>
          </a:bodyPr>
          <a:lstStyle/>
          <a:p>
            <a:pPr indent="0" marL="0">
              <a:buNone/>
            </a:pPr>
            <a:r>
              <a:rPr lang="en-US" sz="3200" b="1" dirty="0">
                <a:solidFill>
                  <a:srgbClr val="FAFAFC"/>
                </a:solidFill>
                <a:latin typeface="Aptos" pitchFamily="34" charset="0"/>
                <a:ea typeface="Aptos" pitchFamily="34" charset="-122"/>
                <a:cs typeface="Aptos" pitchFamily="34" charset="-120"/>
              </a:rPr>
              <a:t>Final Test Results</a:t>
            </a:r>
            <a:endParaRPr lang="en-US" sz="3200" dirty="0"/>
          </a:p>
        </p:txBody>
      </p:sp>
      <p:sp>
        <p:nvSpPr>
          <p:cNvPr id="9" name="Text 7"/>
          <p:cNvSpPr/>
          <p:nvPr/>
        </p:nvSpPr>
        <p:spPr>
          <a:xfrm>
            <a:off x="676656" y="1280160"/>
            <a:ext cx="10652760" cy="301752"/>
          </a:xfrm>
          <a:prstGeom prst="rect">
            <a:avLst/>
          </a:prstGeom>
          <a:noFill/>
          <a:ln/>
        </p:spPr>
        <p:txBody>
          <a:bodyPr wrap="square" lIns="0" tIns="0" rIns="0" bIns="0" rtlCol="0" anchor="ctr">
            <a:normAutofit/>
          </a:bodyPr>
          <a:lstStyle/>
          <a:p>
            <a:pPr indent="0" marL="0">
              <a:buNone/>
            </a:pPr>
            <a:r>
              <a:rPr lang="en-US" sz="1550" dirty="0">
                <a:solidFill>
                  <a:srgbClr val="B0B8CE"/>
                </a:solidFill>
                <a:latin typeface="Aptos" pitchFamily="34" charset="0"/>
                <a:ea typeface="Aptos" pitchFamily="34" charset="-122"/>
                <a:cs typeface="Aptos" pitchFamily="34" charset="-120"/>
              </a:rPr>
              <a:t>A compact quantum classifier, competitive with a classical benchmark under noise</a:t>
            </a:r>
            <a:endParaRPr lang="en-US" sz="1550" dirty="0"/>
          </a:p>
        </p:txBody>
      </p:sp>
      <p:sp>
        <p:nvSpPr>
          <p:cNvPr id="10" name="Shape 8"/>
          <p:cNvSpPr/>
          <p:nvPr/>
        </p:nvSpPr>
        <p:spPr>
          <a:xfrm>
            <a:off x="640080" y="6373368"/>
            <a:ext cx="10927080" cy="0"/>
          </a:xfrm>
          <a:prstGeom prst="line">
            <a:avLst/>
          </a:prstGeom>
          <a:noFill/>
          <a:ln w="8890">
            <a:solidFill>
              <a:srgbClr val="3D435C"/>
            </a:solidFill>
            <a:prstDash val="solid"/>
          </a:ln>
        </p:spPr>
      </p:sp>
      <p:sp>
        <p:nvSpPr>
          <p:cNvPr id="11" name="Text 9"/>
          <p:cNvSpPr/>
          <p:nvPr/>
        </p:nvSpPr>
        <p:spPr>
          <a:xfrm>
            <a:off x="658368" y="6446520"/>
            <a:ext cx="8961120" cy="201168"/>
          </a:xfrm>
          <a:prstGeom prst="rect">
            <a:avLst/>
          </a:prstGeom>
          <a:noFill/>
          <a:ln/>
        </p:spPr>
        <p:txBody>
          <a:bodyPr wrap="square" lIns="0" tIns="0" rIns="0" bIns="0" rtlCol="0" anchor="ctr">
            <a:normAutofit/>
          </a:bodyPr>
          <a:lstStyle/>
          <a:p>
            <a:pPr indent="0" marL="0">
              <a:buNone/>
            </a:pPr>
            <a:r>
              <a:rPr lang="en-US" sz="950" dirty="0">
                <a:solidFill>
                  <a:srgbClr val="8793B1"/>
                </a:solidFill>
                <a:latin typeface="Aptos" pitchFamily="34" charset="0"/>
                <a:ea typeface="Aptos" pitchFamily="34" charset="-122"/>
                <a:cs typeface="Aptos" pitchFamily="34" charset="-120"/>
              </a:rPr>
              <a:t>Fraud on a Quantum Budget  •  Exact density-matrix evaluation unless stated</a:t>
            </a:r>
            <a:endParaRPr lang="en-US" sz="950" dirty="0"/>
          </a:p>
        </p:txBody>
      </p:sp>
      <p:sp>
        <p:nvSpPr>
          <p:cNvPr id="12" name="Text 10"/>
          <p:cNvSpPr/>
          <p:nvPr/>
        </p:nvSpPr>
        <p:spPr>
          <a:xfrm>
            <a:off x="9738360" y="6446520"/>
            <a:ext cx="1783080" cy="201168"/>
          </a:xfrm>
          <a:prstGeom prst="rect">
            <a:avLst/>
          </a:prstGeom>
          <a:noFill/>
          <a:ln/>
        </p:spPr>
        <p:txBody>
          <a:bodyPr wrap="square" lIns="0" tIns="0" rIns="0" bIns="0" rtlCol="0" anchor="ctr">
            <a:normAutofit/>
          </a:bodyPr>
          <a:lstStyle/>
          <a:p>
            <a:pPr algn="r" indent="0" marL="0">
              <a:buNone/>
            </a:pPr>
            <a:r>
              <a:rPr lang="en-US" sz="960" dirty="0">
                <a:solidFill>
                  <a:srgbClr val="8793B1"/>
                </a:solidFill>
                <a:latin typeface="Aptos" pitchFamily="34" charset="0"/>
                <a:ea typeface="Aptos" pitchFamily="34" charset="-122"/>
                <a:cs typeface="Aptos" pitchFamily="34" charset="-120"/>
              </a:rPr>
              <a:t>BREAQ 2026   /   05</a:t>
            </a:r>
            <a:endParaRPr lang="en-US" sz="960" dirty="0"/>
          </a:p>
        </p:txBody>
      </p:sp>
      <p:sp>
        <p:nvSpPr>
          <p:cNvPr id="13" name="Shape 11"/>
          <p:cNvSpPr/>
          <p:nvPr/>
        </p:nvSpPr>
        <p:spPr>
          <a:xfrm>
            <a:off x="557784" y="1746504"/>
            <a:ext cx="7388352" cy="4370832"/>
          </a:xfrm>
          <a:prstGeom prst="roundRect">
            <a:avLst>
              <a:gd name="adj" fmla="val 2092"/>
            </a:avLst>
          </a:prstGeom>
          <a:solidFill>
            <a:srgbClr val="232635"/>
          </a:solidFill>
          <a:ln w="8890">
            <a:solidFill>
              <a:srgbClr val="3D435C"/>
            </a:solidFill>
            <a:prstDash val="solid"/>
          </a:ln>
        </p:spPr>
      </p:sp>
      <p:sp>
        <p:nvSpPr>
          <p:cNvPr id="14" name="Text 12"/>
          <p:cNvSpPr/>
          <p:nvPr/>
        </p:nvSpPr>
        <p:spPr>
          <a:xfrm>
            <a:off x="777240" y="1901952"/>
            <a:ext cx="6931152" cy="246888"/>
          </a:xfrm>
          <a:prstGeom prst="rect">
            <a:avLst/>
          </a:prstGeom>
          <a:noFill/>
          <a:ln/>
        </p:spPr>
        <p:txBody>
          <a:bodyPr wrap="square" lIns="0" tIns="0" rIns="0" bIns="0" rtlCol="0" anchor="ctr">
            <a:normAutofit/>
          </a:bodyPr>
          <a:lstStyle/>
          <a:p>
            <a:pPr indent="0" marL="0">
              <a:buNone/>
            </a:pPr>
            <a:r>
              <a:rPr lang="en-US" sz="1100" b="1" spc="100" kern="0" dirty="0">
                <a:solidFill>
                  <a:srgbClr val="DCE0EE"/>
                </a:solidFill>
                <a:latin typeface="Aptos" pitchFamily="34" charset="0"/>
                <a:ea typeface="Aptos" pitchFamily="34" charset="-122"/>
                <a:cs typeface="Aptos" pitchFamily="34" charset="-120"/>
              </a:rPr>
              <a:t>TEST AUPRC VS DEPOLARIZING PROBABILITY P  •  EXPERIMENT PLOT</a:t>
            </a:r>
            <a:endParaRPr lang="en-US" sz="1100" dirty="0"/>
          </a:p>
        </p:txBody>
      </p:sp>
      <p:sp>
        <p:nvSpPr>
          <p:cNvPr id="15" name="Shape 13"/>
          <p:cNvSpPr/>
          <p:nvPr/>
        </p:nvSpPr>
        <p:spPr>
          <a:xfrm>
            <a:off x="749808" y="2249424"/>
            <a:ext cx="7004304" cy="0"/>
          </a:xfrm>
          <a:prstGeom prst="line">
            <a:avLst/>
          </a:prstGeom>
          <a:noFill/>
          <a:ln w="8255">
            <a:solidFill>
              <a:srgbClr val="3D435C"/>
            </a:solidFill>
            <a:prstDash val="solid"/>
          </a:ln>
        </p:spPr>
      </p:sp>
      <p:pic>
        <p:nvPicPr>
          <p:cNvPr id="16" name="Image 0" descr="/mnt/data/breaq_build/exp12_test_auprc_english.png">    </p:cNvPr>
          <p:cNvPicPr>
            <a:picLocks noChangeAspect="1"/>
          </p:cNvPicPr>
          <p:nvPr/>
        </p:nvPicPr>
        <p:blipFill>
          <a:blip r:embed="rId1"/>
          <a:stretch>
            <a:fillRect/>
          </a:stretch>
        </p:blipFill>
        <p:spPr>
          <a:xfrm>
            <a:off x="704088" y="2313432"/>
            <a:ext cx="7104888" cy="3675888"/>
          </a:xfrm>
          <a:prstGeom prst="rect">
            <a:avLst/>
          </a:prstGeom>
        </p:spPr>
      </p:pic>
      <p:sp>
        <p:nvSpPr>
          <p:cNvPr id="17" name="Shape 14"/>
          <p:cNvSpPr/>
          <p:nvPr/>
        </p:nvSpPr>
        <p:spPr>
          <a:xfrm>
            <a:off x="8083296" y="1746504"/>
            <a:ext cx="3575304" cy="3447288"/>
          </a:xfrm>
          <a:prstGeom prst="roundRect">
            <a:avLst>
              <a:gd name="adj" fmla="val 2653"/>
            </a:avLst>
          </a:prstGeom>
          <a:solidFill>
            <a:srgbClr val="282B3B"/>
          </a:solidFill>
          <a:ln w="8890">
            <a:solidFill>
              <a:srgbClr val="3D435C"/>
            </a:solidFill>
            <a:prstDash val="solid"/>
          </a:ln>
        </p:spPr>
      </p:sp>
      <p:sp>
        <p:nvSpPr>
          <p:cNvPr id="18" name="Text 15"/>
          <p:cNvSpPr/>
          <p:nvPr/>
        </p:nvSpPr>
        <p:spPr>
          <a:xfrm>
            <a:off x="8284464" y="1929384"/>
            <a:ext cx="3081528" cy="256032"/>
          </a:xfrm>
          <a:prstGeom prst="rect">
            <a:avLst/>
          </a:prstGeom>
          <a:noFill/>
          <a:ln/>
        </p:spPr>
        <p:txBody>
          <a:bodyPr wrap="square" lIns="0" tIns="0" rIns="0" bIns="0" rtlCol="0" anchor="ctr">
            <a:normAutofit/>
          </a:bodyPr>
          <a:lstStyle/>
          <a:p>
            <a:pPr indent="0" marL="0">
              <a:buNone/>
            </a:pPr>
            <a:r>
              <a:rPr lang="en-US" sz="1160" b="1" spc="60" kern="0" dirty="0">
                <a:solidFill>
                  <a:srgbClr val="DCE0EE"/>
                </a:solidFill>
                <a:latin typeface="Aptos" pitchFamily="34" charset="0"/>
                <a:ea typeface="Aptos" pitchFamily="34" charset="-122"/>
                <a:cs typeface="Aptos" pitchFamily="34" charset="-120"/>
              </a:rPr>
              <a:t>TEST  ·  p = 0.05</a:t>
            </a:r>
            <a:endParaRPr lang="en-US" sz="1160" dirty="0"/>
          </a:p>
        </p:txBody>
      </p:sp>
      <p:sp>
        <p:nvSpPr>
          <p:cNvPr id="19" name="Shape 16"/>
          <p:cNvSpPr/>
          <p:nvPr/>
        </p:nvSpPr>
        <p:spPr>
          <a:xfrm>
            <a:off x="8275320" y="2276856"/>
            <a:ext cx="3182112" cy="0"/>
          </a:xfrm>
          <a:prstGeom prst="line">
            <a:avLst/>
          </a:prstGeom>
          <a:noFill/>
          <a:ln w="8890">
            <a:solidFill>
              <a:srgbClr val="3D435C"/>
            </a:solidFill>
            <a:prstDash val="solid"/>
          </a:ln>
        </p:spPr>
      </p:sp>
      <p:sp>
        <p:nvSpPr>
          <p:cNvPr id="20" name="Text 17"/>
          <p:cNvSpPr/>
          <p:nvPr/>
        </p:nvSpPr>
        <p:spPr>
          <a:xfrm>
            <a:off x="8275320" y="2423160"/>
            <a:ext cx="1261872" cy="274320"/>
          </a:xfrm>
          <a:prstGeom prst="rect">
            <a:avLst/>
          </a:prstGeom>
          <a:noFill/>
          <a:ln/>
        </p:spPr>
        <p:txBody>
          <a:bodyPr wrap="square" lIns="0" tIns="0" rIns="0" bIns="0" rtlCol="0" anchor="ctr">
            <a:normAutofit/>
          </a:bodyPr>
          <a:lstStyle/>
          <a:p>
            <a:pPr algn="l" indent="0" marL="0">
              <a:buNone/>
            </a:pPr>
            <a:r>
              <a:rPr lang="en-US" sz="1040" b="1" dirty="0">
                <a:solidFill>
                  <a:srgbClr val="B0B8CE"/>
                </a:solidFill>
                <a:latin typeface="Aptos" pitchFamily="34" charset="0"/>
                <a:ea typeface="Aptos" pitchFamily="34" charset="-122"/>
                <a:cs typeface="Aptos" pitchFamily="34" charset="-120"/>
              </a:rPr>
              <a:t>MODEL</a:t>
            </a:r>
            <a:endParaRPr lang="en-US" sz="1040" dirty="0"/>
          </a:p>
        </p:txBody>
      </p:sp>
      <p:sp>
        <p:nvSpPr>
          <p:cNvPr id="21" name="Text 18"/>
          <p:cNvSpPr/>
          <p:nvPr/>
        </p:nvSpPr>
        <p:spPr>
          <a:xfrm>
            <a:off x="9610344" y="2423160"/>
            <a:ext cx="585216" cy="274320"/>
          </a:xfrm>
          <a:prstGeom prst="rect">
            <a:avLst/>
          </a:prstGeom>
          <a:noFill/>
          <a:ln/>
        </p:spPr>
        <p:txBody>
          <a:bodyPr wrap="square" lIns="0" tIns="0" rIns="0" bIns="0" rtlCol="0" anchor="ctr">
            <a:normAutofit/>
          </a:bodyPr>
          <a:lstStyle/>
          <a:p>
            <a:pPr algn="r" indent="0" marL="0">
              <a:buNone/>
            </a:pPr>
            <a:r>
              <a:rPr lang="en-US" sz="960" b="1" dirty="0">
                <a:solidFill>
                  <a:srgbClr val="B0B8CE"/>
                </a:solidFill>
                <a:latin typeface="Aptos" pitchFamily="34" charset="0"/>
                <a:ea typeface="Aptos" pitchFamily="34" charset="-122"/>
                <a:cs typeface="Aptos" pitchFamily="34" charset="-120"/>
              </a:rPr>
              <a:t>AUPRC</a:t>
            </a:r>
            <a:endParaRPr lang="en-US" sz="960" dirty="0"/>
          </a:p>
        </p:txBody>
      </p:sp>
      <p:sp>
        <p:nvSpPr>
          <p:cNvPr id="22" name="Text 19"/>
          <p:cNvSpPr/>
          <p:nvPr/>
        </p:nvSpPr>
        <p:spPr>
          <a:xfrm>
            <a:off x="10232136" y="2423160"/>
            <a:ext cx="585216" cy="274320"/>
          </a:xfrm>
          <a:prstGeom prst="rect">
            <a:avLst/>
          </a:prstGeom>
          <a:noFill/>
          <a:ln/>
        </p:spPr>
        <p:txBody>
          <a:bodyPr wrap="square" lIns="0" tIns="0" rIns="0" bIns="0" rtlCol="0" anchor="ctr">
            <a:normAutofit/>
          </a:bodyPr>
          <a:lstStyle/>
          <a:p>
            <a:pPr algn="r" indent="0" marL="0">
              <a:buNone/>
            </a:pPr>
            <a:r>
              <a:rPr lang="en-US" sz="960" b="1" dirty="0">
                <a:solidFill>
                  <a:srgbClr val="B0B8CE"/>
                </a:solidFill>
                <a:latin typeface="Aptos" pitchFamily="34" charset="0"/>
                <a:ea typeface="Aptos" pitchFamily="34" charset="-122"/>
                <a:cs typeface="Aptos" pitchFamily="34" charset="-120"/>
              </a:rPr>
              <a:t>RECALL</a:t>
            </a:r>
            <a:endParaRPr lang="en-US" sz="960" dirty="0"/>
          </a:p>
        </p:txBody>
      </p:sp>
      <p:sp>
        <p:nvSpPr>
          <p:cNvPr id="23" name="Text 20"/>
          <p:cNvSpPr/>
          <p:nvPr/>
        </p:nvSpPr>
        <p:spPr>
          <a:xfrm>
            <a:off x="10890504" y="2423160"/>
            <a:ext cx="585216" cy="274320"/>
          </a:xfrm>
          <a:prstGeom prst="rect">
            <a:avLst/>
          </a:prstGeom>
          <a:noFill/>
          <a:ln/>
        </p:spPr>
        <p:txBody>
          <a:bodyPr wrap="square" lIns="0" tIns="0" rIns="0" bIns="0" rtlCol="0" anchor="ctr">
            <a:normAutofit/>
          </a:bodyPr>
          <a:lstStyle/>
          <a:p>
            <a:pPr algn="r" indent="0" marL="0">
              <a:buNone/>
            </a:pPr>
            <a:r>
              <a:rPr lang="en-US" sz="960" b="1" dirty="0">
                <a:solidFill>
                  <a:srgbClr val="B0B8CE"/>
                </a:solidFill>
                <a:latin typeface="Aptos" pitchFamily="34" charset="0"/>
                <a:ea typeface="Aptos" pitchFamily="34" charset="-122"/>
                <a:cs typeface="Aptos" pitchFamily="34" charset="-120"/>
              </a:rPr>
              <a:t>FP</a:t>
            </a:r>
            <a:endParaRPr lang="en-US" sz="960" dirty="0"/>
          </a:p>
        </p:txBody>
      </p:sp>
      <p:sp>
        <p:nvSpPr>
          <p:cNvPr id="24" name="Text 21"/>
          <p:cNvSpPr/>
          <p:nvPr/>
        </p:nvSpPr>
        <p:spPr>
          <a:xfrm>
            <a:off x="8284464" y="2825496"/>
            <a:ext cx="1371600" cy="292608"/>
          </a:xfrm>
          <a:prstGeom prst="rect">
            <a:avLst/>
          </a:prstGeom>
          <a:noFill/>
          <a:ln/>
        </p:spPr>
        <p:txBody>
          <a:bodyPr wrap="square" lIns="0" tIns="0" rIns="0" bIns="0" rtlCol="0" anchor="ctr">
            <a:normAutofit/>
          </a:bodyPr>
          <a:lstStyle/>
          <a:p>
            <a:pPr indent="0" marL="0">
              <a:buNone/>
            </a:pPr>
            <a:r>
              <a:rPr lang="en-US" sz="1075" dirty="0">
                <a:solidFill>
                  <a:srgbClr val="DCE0EE"/>
                </a:solidFill>
                <a:latin typeface="Aptos" pitchFamily="34" charset="0"/>
                <a:ea typeface="Aptos" pitchFamily="34" charset="-122"/>
                <a:cs typeface="Aptos" pitchFamily="34" charset="-120"/>
              </a:rPr>
              <a:t>Baseline A</a:t>
            </a:r>
            <a:endParaRPr lang="en-US" sz="1075" dirty="0"/>
          </a:p>
        </p:txBody>
      </p:sp>
      <p:sp>
        <p:nvSpPr>
          <p:cNvPr id="25" name="Text 22"/>
          <p:cNvSpPr/>
          <p:nvPr/>
        </p:nvSpPr>
        <p:spPr>
          <a:xfrm>
            <a:off x="9601200" y="2825496"/>
            <a:ext cx="62179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0.405</a:t>
            </a:r>
            <a:endParaRPr lang="en-US" sz="1130" dirty="0"/>
          </a:p>
        </p:txBody>
      </p:sp>
      <p:sp>
        <p:nvSpPr>
          <p:cNvPr id="26" name="Text 23"/>
          <p:cNvSpPr/>
          <p:nvPr/>
        </p:nvSpPr>
        <p:spPr>
          <a:xfrm>
            <a:off x="10213848" y="2825496"/>
            <a:ext cx="594360"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62.2%</a:t>
            </a:r>
            <a:endParaRPr lang="en-US" sz="1130" dirty="0"/>
          </a:p>
        </p:txBody>
      </p:sp>
      <p:sp>
        <p:nvSpPr>
          <p:cNvPr id="27" name="Text 24"/>
          <p:cNvSpPr/>
          <p:nvPr/>
        </p:nvSpPr>
        <p:spPr>
          <a:xfrm>
            <a:off x="10853928" y="2825496"/>
            <a:ext cx="57607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82.6</a:t>
            </a:r>
            <a:endParaRPr lang="en-US" sz="1130" dirty="0"/>
          </a:p>
        </p:txBody>
      </p:sp>
      <p:sp>
        <p:nvSpPr>
          <p:cNvPr id="28" name="Text 25"/>
          <p:cNvSpPr/>
          <p:nvPr/>
        </p:nvSpPr>
        <p:spPr>
          <a:xfrm>
            <a:off x="8284464" y="3337560"/>
            <a:ext cx="1371600" cy="292608"/>
          </a:xfrm>
          <a:prstGeom prst="rect">
            <a:avLst/>
          </a:prstGeom>
          <a:noFill/>
          <a:ln/>
        </p:spPr>
        <p:txBody>
          <a:bodyPr wrap="square" lIns="0" tIns="0" rIns="0" bIns="0" rtlCol="0" anchor="ctr">
            <a:normAutofit/>
          </a:bodyPr>
          <a:lstStyle/>
          <a:p>
            <a:pPr indent="0" marL="0">
              <a:buNone/>
            </a:pPr>
            <a:r>
              <a:rPr lang="en-US" sz="1075" dirty="0">
                <a:solidFill>
                  <a:srgbClr val="DCE0EE"/>
                </a:solidFill>
                <a:latin typeface="Aptos" pitchFamily="34" charset="0"/>
                <a:ea typeface="Aptos" pitchFamily="34" charset="-122"/>
                <a:cs typeface="Aptos" pitchFamily="34" charset="-120"/>
              </a:rPr>
              <a:t>STAR + Z₀</a:t>
            </a:r>
            <a:endParaRPr lang="en-US" sz="1075" dirty="0"/>
          </a:p>
        </p:txBody>
      </p:sp>
      <p:sp>
        <p:nvSpPr>
          <p:cNvPr id="29" name="Text 26"/>
          <p:cNvSpPr/>
          <p:nvPr/>
        </p:nvSpPr>
        <p:spPr>
          <a:xfrm>
            <a:off x="9601200" y="3337560"/>
            <a:ext cx="62179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0.661</a:t>
            </a:r>
            <a:endParaRPr lang="en-US" sz="1130" dirty="0"/>
          </a:p>
        </p:txBody>
      </p:sp>
      <p:sp>
        <p:nvSpPr>
          <p:cNvPr id="30" name="Text 27"/>
          <p:cNvSpPr/>
          <p:nvPr/>
        </p:nvSpPr>
        <p:spPr>
          <a:xfrm>
            <a:off x="10213848" y="3337560"/>
            <a:ext cx="594360"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72.0%</a:t>
            </a:r>
            <a:endParaRPr lang="en-US" sz="1130" dirty="0"/>
          </a:p>
        </p:txBody>
      </p:sp>
      <p:sp>
        <p:nvSpPr>
          <p:cNvPr id="31" name="Text 28"/>
          <p:cNvSpPr/>
          <p:nvPr/>
        </p:nvSpPr>
        <p:spPr>
          <a:xfrm>
            <a:off x="10853928" y="3337560"/>
            <a:ext cx="57607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21.0</a:t>
            </a:r>
            <a:endParaRPr lang="en-US" sz="1130" dirty="0"/>
          </a:p>
        </p:txBody>
      </p:sp>
      <p:sp>
        <p:nvSpPr>
          <p:cNvPr id="32" name="Shape 29"/>
          <p:cNvSpPr/>
          <p:nvPr/>
        </p:nvSpPr>
        <p:spPr>
          <a:xfrm>
            <a:off x="8211312" y="3803904"/>
            <a:ext cx="3328416" cy="475488"/>
          </a:xfrm>
          <a:prstGeom prst="roundRect">
            <a:avLst>
              <a:gd name="adj" fmla="val 11538"/>
            </a:avLst>
          </a:prstGeom>
          <a:solidFill>
            <a:srgbClr val="35333B"/>
          </a:solidFill>
          <a:ln w="8890">
            <a:solidFill>
              <a:srgbClr val="665A4B"/>
            </a:solidFill>
            <a:prstDash val="solid"/>
          </a:ln>
        </p:spPr>
      </p:sp>
      <p:sp>
        <p:nvSpPr>
          <p:cNvPr id="33" name="Text 30"/>
          <p:cNvSpPr/>
          <p:nvPr/>
        </p:nvSpPr>
        <p:spPr>
          <a:xfrm>
            <a:off x="8284464" y="3849624"/>
            <a:ext cx="1371600" cy="292608"/>
          </a:xfrm>
          <a:prstGeom prst="rect">
            <a:avLst/>
          </a:prstGeom>
          <a:noFill/>
          <a:ln/>
        </p:spPr>
        <p:txBody>
          <a:bodyPr wrap="square" lIns="0" tIns="0" rIns="0" bIns="0" rtlCol="0" anchor="ctr">
            <a:normAutofit/>
          </a:bodyPr>
          <a:lstStyle/>
          <a:p>
            <a:pPr indent="0" marL="0">
              <a:buNone/>
            </a:pPr>
            <a:r>
              <a:rPr lang="en-US" sz="1120" b="1" dirty="0">
                <a:solidFill>
                  <a:srgbClr val="F1B75E"/>
                </a:solidFill>
                <a:latin typeface="Aptos" pitchFamily="34" charset="0"/>
                <a:ea typeface="Aptos" pitchFamily="34" charset="-122"/>
                <a:cs typeface="Aptos" pitchFamily="34" charset="-120"/>
              </a:rPr>
              <a:t>STAR + Z₀Z₁</a:t>
            </a:r>
            <a:endParaRPr lang="en-US" sz="1120" dirty="0"/>
          </a:p>
        </p:txBody>
      </p:sp>
      <p:sp>
        <p:nvSpPr>
          <p:cNvPr id="34" name="Text 31"/>
          <p:cNvSpPr/>
          <p:nvPr/>
        </p:nvSpPr>
        <p:spPr>
          <a:xfrm>
            <a:off x="9601200" y="3849624"/>
            <a:ext cx="621792" cy="292608"/>
          </a:xfrm>
          <a:prstGeom prst="rect">
            <a:avLst/>
          </a:prstGeom>
          <a:noFill/>
          <a:ln/>
        </p:spPr>
        <p:txBody>
          <a:bodyPr wrap="square" lIns="0" tIns="0" rIns="0" bIns="0" rtlCol="0" anchor="ctr">
            <a:normAutofit/>
          </a:bodyPr>
          <a:lstStyle/>
          <a:p>
            <a:pPr algn="r" indent="0" marL="0">
              <a:buNone/>
            </a:pPr>
            <a:r>
              <a:rPr lang="en-US" sz="1130" b="1" dirty="0">
                <a:solidFill>
                  <a:srgbClr val="F1B75E"/>
                </a:solidFill>
                <a:latin typeface="Aptos" pitchFamily="34" charset="0"/>
                <a:ea typeface="Aptos" pitchFamily="34" charset="-122"/>
                <a:cs typeface="Aptos" pitchFamily="34" charset="-120"/>
              </a:rPr>
              <a:t>0.709</a:t>
            </a:r>
            <a:endParaRPr lang="en-US" sz="1130" dirty="0"/>
          </a:p>
        </p:txBody>
      </p:sp>
      <p:sp>
        <p:nvSpPr>
          <p:cNvPr id="35" name="Text 32"/>
          <p:cNvSpPr/>
          <p:nvPr/>
        </p:nvSpPr>
        <p:spPr>
          <a:xfrm>
            <a:off x="10213848" y="3849624"/>
            <a:ext cx="594360" cy="292608"/>
          </a:xfrm>
          <a:prstGeom prst="rect">
            <a:avLst/>
          </a:prstGeom>
          <a:noFill/>
          <a:ln/>
        </p:spPr>
        <p:txBody>
          <a:bodyPr wrap="square" lIns="0" tIns="0" rIns="0" bIns="0" rtlCol="0" anchor="ctr">
            <a:normAutofit/>
          </a:bodyPr>
          <a:lstStyle/>
          <a:p>
            <a:pPr algn="r" indent="0" marL="0">
              <a:buNone/>
            </a:pPr>
            <a:r>
              <a:rPr lang="en-US" sz="1130" b="1" dirty="0">
                <a:solidFill>
                  <a:srgbClr val="F1B75E"/>
                </a:solidFill>
                <a:latin typeface="Aptos" pitchFamily="34" charset="0"/>
                <a:ea typeface="Aptos" pitchFamily="34" charset="-122"/>
                <a:cs typeface="Aptos" pitchFamily="34" charset="-120"/>
              </a:rPr>
              <a:t>73.5%</a:t>
            </a:r>
            <a:endParaRPr lang="en-US" sz="1130" dirty="0"/>
          </a:p>
        </p:txBody>
      </p:sp>
      <p:sp>
        <p:nvSpPr>
          <p:cNvPr id="36" name="Text 33"/>
          <p:cNvSpPr/>
          <p:nvPr/>
        </p:nvSpPr>
        <p:spPr>
          <a:xfrm>
            <a:off x="10853928" y="3849624"/>
            <a:ext cx="576072" cy="292608"/>
          </a:xfrm>
          <a:prstGeom prst="rect">
            <a:avLst/>
          </a:prstGeom>
          <a:noFill/>
          <a:ln/>
        </p:spPr>
        <p:txBody>
          <a:bodyPr wrap="square" lIns="0" tIns="0" rIns="0" bIns="0" rtlCol="0" anchor="ctr">
            <a:normAutofit/>
          </a:bodyPr>
          <a:lstStyle/>
          <a:p>
            <a:pPr algn="r" indent="0" marL="0">
              <a:buNone/>
            </a:pPr>
            <a:r>
              <a:rPr lang="en-US" sz="1130" b="1" dirty="0">
                <a:solidFill>
                  <a:srgbClr val="F1B75E"/>
                </a:solidFill>
                <a:latin typeface="Aptos" pitchFamily="34" charset="0"/>
                <a:ea typeface="Aptos" pitchFamily="34" charset="-122"/>
                <a:cs typeface="Aptos" pitchFamily="34" charset="-120"/>
              </a:rPr>
              <a:t>22.4</a:t>
            </a:r>
            <a:endParaRPr lang="en-US" sz="1130" dirty="0"/>
          </a:p>
        </p:txBody>
      </p:sp>
      <p:sp>
        <p:nvSpPr>
          <p:cNvPr id="37" name="Text 34"/>
          <p:cNvSpPr/>
          <p:nvPr/>
        </p:nvSpPr>
        <p:spPr>
          <a:xfrm>
            <a:off x="8284464" y="4361688"/>
            <a:ext cx="1371600" cy="292608"/>
          </a:xfrm>
          <a:prstGeom prst="rect">
            <a:avLst/>
          </a:prstGeom>
          <a:noFill/>
          <a:ln/>
        </p:spPr>
        <p:txBody>
          <a:bodyPr wrap="square" lIns="0" tIns="0" rIns="0" bIns="0" rtlCol="0" anchor="ctr">
            <a:normAutofit/>
          </a:bodyPr>
          <a:lstStyle/>
          <a:p>
            <a:pPr indent="0" marL="0">
              <a:buNone/>
            </a:pPr>
            <a:r>
              <a:rPr lang="en-US" sz="1075" dirty="0">
                <a:solidFill>
                  <a:srgbClr val="DCE0EE"/>
                </a:solidFill>
                <a:latin typeface="Aptos" pitchFamily="34" charset="0"/>
                <a:ea typeface="Aptos" pitchFamily="34" charset="-122"/>
                <a:cs typeface="Aptos" pitchFamily="34" charset="-120"/>
              </a:rPr>
              <a:t>Logistic Reg.</a:t>
            </a:r>
            <a:endParaRPr lang="en-US" sz="1075" dirty="0"/>
          </a:p>
        </p:txBody>
      </p:sp>
      <p:sp>
        <p:nvSpPr>
          <p:cNvPr id="38" name="Text 35"/>
          <p:cNvSpPr/>
          <p:nvPr/>
        </p:nvSpPr>
        <p:spPr>
          <a:xfrm>
            <a:off x="9601200" y="4361688"/>
            <a:ext cx="62179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0.703</a:t>
            </a:r>
            <a:endParaRPr lang="en-US" sz="1130" dirty="0"/>
          </a:p>
        </p:txBody>
      </p:sp>
      <p:sp>
        <p:nvSpPr>
          <p:cNvPr id="39" name="Text 36"/>
          <p:cNvSpPr/>
          <p:nvPr/>
        </p:nvSpPr>
        <p:spPr>
          <a:xfrm>
            <a:off x="10213848" y="4361688"/>
            <a:ext cx="594360"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80.8%</a:t>
            </a:r>
            <a:endParaRPr lang="en-US" sz="1130" dirty="0"/>
          </a:p>
        </p:txBody>
      </p:sp>
      <p:sp>
        <p:nvSpPr>
          <p:cNvPr id="40" name="Text 37"/>
          <p:cNvSpPr/>
          <p:nvPr/>
        </p:nvSpPr>
        <p:spPr>
          <a:xfrm>
            <a:off x="10853928" y="4361688"/>
            <a:ext cx="576072" cy="292608"/>
          </a:xfrm>
          <a:prstGeom prst="rect">
            <a:avLst/>
          </a:prstGeom>
          <a:noFill/>
          <a:ln/>
        </p:spPr>
        <p:txBody>
          <a:bodyPr wrap="square" lIns="0" tIns="0" rIns="0" bIns="0" rtlCol="0" anchor="ctr">
            <a:normAutofit/>
          </a:bodyPr>
          <a:lstStyle/>
          <a:p>
            <a:pPr algn="r" indent="0" marL="0">
              <a:buNone/>
            </a:pPr>
            <a:r>
              <a:rPr lang="en-US" sz="1130" dirty="0">
                <a:solidFill>
                  <a:srgbClr val="DCE0EE"/>
                </a:solidFill>
                <a:latin typeface="Aptos" pitchFamily="34" charset="0"/>
                <a:ea typeface="Aptos" pitchFamily="34" charset="-122"/>
                <a:cs typeface="Aptos" pitchFamily="34" charset="-120"/>
              </a:rPr>
              <a:t>23.0</a:t>
            </a:r>
            <a:endParaRPr lang="en-US" sz="1130" dirty="0"/>
          </a:p>
        </p:txBody>
      </p:sp>
      <p:sp>
        <p:nvSpPr>
          <p:cNvPr id="41" name="Shape 38"/>
          <p:cNvSpPr/>
          <p:nvPr/>
        </p:nvSpPr>
        <p:spPr>
          <a:xfrm>
            <a:off x="8083296" y="5367528"/>
            <a:ext cx="3575304" cy="731520"/>
          </a:xfrm>
          <a:prstGeom prst="roundRect">
            <a:avLst>
              <a:gd name="adj" fmla="val 11250"/>
            </a:avLst>
          </a:prstGeom>
          <a:solidFill>
            <a:srgbClr val="232635"/>
          </a:solidFill>
          <a:ln w="8890">
            <a:solidFill>
              <a:srgbClr val="3D435C"/>
            </a:solidFill>
            <a:prstDash val="solid"/>
          </a:ln>
        </p:spPr>
      </p:sp>
      <p:sp>
        <p:nvSpPr>
          <p:cNvPr id="42" name="Text 39"/>
          <p:cNvSpPr/>
          <p:nvPr/>
        </p:nvSpPr>
        <p:spPr>
          <a:xfrm>
            <a:off x="8275320" y="5504688"/>
            <a:ext cx="1938528" cy="329184"/>
          </a:xfrm>
          <a:prstGeom prst="rect">
            <a:avLst/>
          </a:prstGeom>
          <a:noFill/>
          <a:ln/>
        </p:spPr>
        <p:txBody>
          <a:bodyPr wrap="square" lIns="0" tIns="0" rIns="0" bIns="0" rtlCol="0" anchor="ctr">
            <a:normAutofit/>
          </a:bodyPr>
          <a:lstStyle/>
          <a:p>
            <a:pPr indent="0" marL="0">
              <a:buNone/>
            </a:pPr>
            <a:r>
              <a:rPr lang="en-US" sz="2300" b="1" dirty="0">
                <a:solidFill>
                  <a:srgbClr val="F1B75E"/>
                </a:solidFill>
                <a:latin typeface="Aptos" pitchFamily="34" charset="0"/>
                <a:ea typeface="Aptos" pitchFamily="34" charset="-122"/>
                <a:cs typeface="Aptos" pitchFamily="34" charset="-120"/>
              </a:rPr>
              <a:t>0.709 ± 0.033</a:t>
            </a:r>
            <a:endParaRPr lang="en-US" sz="2300" dirty="0"/>
          </a:p>
        </p:txBody>
      </p:sp>
      <p:sp>
        <p:nvSpPr>
          <p:cNvPr id="43" name="Text 40"/>
          <p:cNvSpPr/>
          <p:nvPr/>
        </p:nvSpPr>
        <p:spPr>
          <a:xfrm>
            <a:off x="10195560" y="5504688"/>
            <a:ext cx="1271016" cy="347472"/>
          </a:xfrm>
          <a:prstGeom prst="rect">
            <a:avLst/>
          </a:prstGeom>
          <a:noFill/>
          <a:ln/>
        </p:spPr>
        <p:txBody>
          <a:bodyPr wrap="square" lIns="0" tIns="0" rIns="0" bIns="0" rtlCol="0" anchor="ctr">
            <a:normAutofit/>
          </a:bodyPr>
          <a:lstStyle/>
          <a:p>
            <a:pPr algn="r" indent="0" marL="0">
              <a:buNone/>
            </a:pPr>
            <a:r>
              <a:rPr lang="en-US" sz="1040" dirty="0">
                <a:solidFill>
                  <a:srgbClr val="DCE0EE"/>
                </a:solidFill>
                <a:latin typeface="Aptos" pitchFamily="34" charset="0"/>
                <a:ea typeface="Aptos" pitchFamily="34" charset="-122"/>
                <a:cs typeface="Aptos" pitchFamily="34" charset="-120"/>
              </a:rPr>
              <a:t>Final VQC test AUPRC</a:t>
            </a:r>
            <a:endParaRPr lang="en-US" sz="10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BreaQ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Fraud Detection | Circuit &amp; Readout Optimization</dc:title>
  <dc:subject>Fraud on a Quantum Budget — BreaQ 2026</dc:subject>
  <dc:creator>Alexandru Covaliov Mocenco &amp; Alexandru Vrabie</dc:creator>
  <cp:lastModifiedBy>Alexandru Covaliov Mocenco &amp; Alexandru Vrabie</cp:lastModifiedBy>
  <cp:revision>1</cp:revision>
  <dcterms:created xsi:type="dcterms:W3CDTF">2026-10-25T05:51:58Z</dcterms:created>
  <dcterms:modified xsi:type="dcterms:W3CDTF">2026-10-25T05:51:58Z</dcterms:modified>
</cp:coreProperties>
</file>